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3B82F6">
              <a:alpha val="10000"/>
            </a:srgbClr>
          </a:solidFill>
          <a:ln/>
        </p:spPr>
      </p:sp>
      <p:sp>
        <p:nvSpPr>
          <p:cNvPr id="3" name="Shape 1"/>
          <p:cNvSpPr/>
          <p:nvPr/>
        </p:nvSpPr>
        <p:spPr>
          <a:xfrm>
            <a:off x="10058400" y="5029200"/>
            <a:ext cx="3200400" cy="3200400"/>
          </a:xfrm>
          <a:prstGeom prst="ellipse">
            <a:avLst/>
          </a:prstGeom>
          <a:solidFill>
            <a:srgbClr val="8B5CF6">
              <a:alpha val="10000"/>
            </a:srgbClr>
          </a:solidFill>
          <a:ln/>
        </p:spPr>
      </p:sp>
      <p:sp>
        <p:nvSpPr>
          <p:cNvPr id="4" name="Shape 2"/>
          <p:cNvSpPr/>
          <p:nvPr/>
        </p:nvSpPr>
        <p:spPr>
          <a:xfrm>
            <a:off x="0" y="2743200"/>
            <a:ext cx="12188952" cy="45720"/>
          </a:xfrm>
          <a:prstGeom prst="rect">
            <a:avLst/>
          </a:prstGeom>
          <a:solidFill>
            <a:srgbClr val="3B82F6"/>
          </a:solidFill>
          <a:ln/>
        </p:spPr>
      </p:sp>
      <p:sp>
        <p:nvSpPr>
          <p:cNvPr id="5" name="Text 3"/>
          <p:cNvSpPr/>
          <p:nvPr/>
        </p:nvSpPr>
        <p:spPr>
          <a:xfrm>
            <a:off x="0" y="1371600"/>
            <a:ext cx="12188952" cy="914400"/>
          </a:xfrm>
          <a:prstGeom prst="rect">
            <a:avLst/>
          </a:prstGeom>
          <a:noFill/>
          <a:ln/>
        </p:spPr>
        <p:txBody>
          <a:bodyPr wrap="square" rtlCol="0" anchor="ctr"/>
          <a:lstStyle/>
          <a:p>
            <a:pPr algn="ctr" indent="0" marL="0">
              <a:buNone/>
            </a:pPr>
            <a:r>
              <a:rPr lang="en-US" sz="1800" b="1" spc="800" kern="0" dirty="0">
                <a:solidFill>
                  <a:srgbClr val="3B82F6"/>
                </a:solidFill>
                <a:latin typeface="Segoe UI" pitchFamily="34" charset="0"/>
                <a:ea typeface="Segoe UI" pitchFamily="34" charset="-122"/>
                <a:cs typeface="Segoe UI" pitchFamily="34" charset="-120"/>
              </a:rPr>
              <a:t>PORTFOLIO</a:t>
            </a:r>
            <a:endParaRPr lang="en-US" sz="1800" dirty="0"/>
          </a:p>
        </p:txBody>
      </p:sp>
      <p:sp>
        <p:nvSpPr>
          <p:cNvPr id="6" name="Text 4"/>
          <p:cNvSpPr/>
          <p:nvPr/>
        </p:nvSpPr>
        <p:spPr>
          <a:xfrm>
            <a:off x="0" y="2011680"/>
            <a:ext cx="12188952" cy="1097280"/>
          </a:xfrm>
          <a:prstGeom prst="rect">
            <a:avLst/>
          </a:prstGeom>
          <a:noFill/>
          <a:ln/>
        </p:spPr>
        <p:txBody>
          <a:bodyPr wrap="square" rtlCol="0" anchor="ctr"/>
          <a:lstStyle/>
          <a:p>
            <a:pPr algn="ctr" indent="0" marL="0">
              <a:buNone/>
            </a:pPr>
            <a:r>
              <a:rPr lang="en-US" sz="4400" b="1" dirty="0">
                <a:solidFill>
                  <a:srgbClr val="FFFFFF"/>
                </a:solidFill>
                <a:latin typeface="Segoe UI" pitchFamily="34" charset="0"/>
                <a:ea typeface="Segoe UI" pitchFamily="34" charset="-122"/>
                <a:cs typeface="Segoe UI" pitchFamily="34" charset="-120"/>
              </a:rPr>
              <a:t>Rigel Donovan Sayudha</a:t>
            </a:r>
            <a:endParaRPr lang="en-US" sz="4400" dirty="0"/>
          </a:p>
        </p:txBody>
      </p:sp>
      <p:sp>
        <p:nvSpPr>
          <p:cNvPr id="7" name="Text 5"/>
          <p:cNvSpPr/>
          <p:nvPr/>
        </p:nvSpPr>
        <p:spPr>
          <a:xfrm>
            <a:off x="0" y="3017520"/>
            <a:ext cx="12188952" cy="640080"/>
          </a:xfrm>
          <a:prstGeom prst="rect">
            <a:avLst/>
          </a:prstGeom>
          <a:noFill/>
          <a:ln/>
        </p:spPr>
        <p:txBody>
          <a:bodyPr wrap="square" rtlCol="0" anchor="ctr"/>
          <a:lstStyle/>
          <a:p>
            <a:pPr algn="ctr" indent="0" marL="0">
              <a:buNone/>
            </a:pPr>
            <a:r>
              <a:rPr lang="en-US" sz="2000" dirty="0">
                <a:solidFill>
                  <a:srgbClr val="94A3B8"/>
                </a:solidFill>
                <a:latin typeface="Segoe UI" pitchFamily="34" charset="0"/>
                <a:ea typeface="Segoe UI" pitchFamily="34" charset="-122"/>
                <a:cs typeface="Segoe UI" pitchFamily="34" charset="-120"/>
              </a:rPr>
              <a:t>Bachelor of Computer Science</a:t>
            </a:r>
            <a:endParaRPr lang="en-US" sz="2000" dirty="0"/>
          </a:p>
        </p:txBody>
      </p:sp>
      <p:sp>
        <p:nvSpPr>
          <p:cNvPr id="8" name="Text 6"/>
          <p:cNvSpPr/>
          <p:nvPr/>
        </p:nvSpPr>
        <p:spPr>
          <a:xfrm>
            <a:off x="457200" y="5029200"/>
            <a:ext cx="11274552" cy="457200"/>
          </a:xfrm>
          <a:prstGeom prst="rect">
            <a:avLst/>
          </a:prstGeom>
          <a:noFill/>
          <a:ln/>
        </p:spPr>
        <p:txBody>
          <a:bodyPr wrap="square" rtlCol="0" anchor="ctr"/>
          <a:lstStyle/>
          <a:p>
            <a:pPr algn="ctr" indent="0" marL="0">
              <a:buNone/>
            </a:pPr>
            <a:r>
              <a:rPr lang="en-US" sz="1200" dirty="0">
                <a:solidFill>
                  <a:srgbClr val="94A3B8"/>
                </a:solidFill>
                <a:latin typeface="Segoe UI" pitchFamily="34" charset="0"/>
                <a:ea typeface="Segoe UI" pitchFamily="34" charset="-122"/>
                <a:cs typeface="Segoe UI" pitchFamily="34" charset="-120"/>
              </a:rPr>
              <a:t>📧 rigeldonovan@gmail.com     |     📱 +6285604450227     |     🔗 linkedin.com/in/rigel-donovan     |     🌐 portfolio-rigel.vercel.app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3B82F6">
              <a:alpha val="10000"/>
            </a:srgbClr>
          </a:solidFill>
          <a:ln/>
        </p:spPr>
      </p:sp>
      <p:sp>
        <p:nvSpPr>
          <p:cNvPr id="3" name="Shape 1"/>
          <p:cNvSpPr/>
          <p:nvPr/>
        </p:nvSpPr>
        <p:spPr>
          <a:xfrm>
            <a:off x="10058400" y="5029200"/>
            <a:ext cx="3200400" cy="3200400"/>
          </a:xfrm>
          <a:prstGeom prst="ellipse">
            <a:avLst/>
          </a:prstGeom>
          <a:solidFill>
            <a:srgbClr val="8B5CF6">
              <a:alpha val="10000"/>
            </a:srgbClr>
          </a:solidFill>
          <a:ln/>
        </p:spPr>
      </p:sp>
      <p:sp>
        <p:nvSpPr>
          <p:cNvPr id="4" name="Shape 2"/>
          <p:cNvSpPr/>
          <p:nvPr/>
        </p:nvSpPr>
        <p:spPr>
          <a:xfrm>
            <a:off x="0" y="0"/>
            <a:ext cx="12188952" cy="1005840"/>
          </a:xfrm>
          <a:prstGeom prst="roundRect">
            <a:avLst/>
          </a:prstGeom>
          <a:solidFill>
            <a:srgbClr val="1E293B"/>
          </a:solidFill>
          <a:ln/>
        </p:spPr>
      </p:sp>
      <p:sp>
        <p:nvSpPr>
          <p:cNvPr id="5" name="Text 3"/>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3B82F6"/>
                </a:solidFill>
                <a:latin typeface="Segoe UI" pitchFamily="34" charset="0"/>
                <a:ea typeface="Segoe UI" pitchFamily="34" charset="-122"/>
                <a:cs typeface="Segoe UI" pitchFamily="34" charset="-120"/>
              </a:rPr>
              <a:t>👤  ABOUT ME</a:t>
            </a:r>
            <a:endParaRPr lang="en-US" sz="2800" dirty="0"/>
          </a:p>
        </p:txBody>
      </p:sp>
      <p:sp>
        <p:nvSpPr>
          <p:cNvPr id="6" name="Text 4"/>
          <p:cNvSpPr/>
          <p:nvPr/>
        </p:nvSpPr>
        <p:spPr>
          <a:xfrm>
            <a:off x="731520" y="1371600"/>
            <a:ext cx="6858000" cy="2286000"/>
          </a:xfrm>
          <a:prstGeom prst="rect">
            <a:avLst/>
          </a:prstGeom>
          <a:noFill/>
          <a:ln/>
        </p:spPr>
        <p:txBody>
          <a:bodyPr wrap="square" rtlCol="0" anchor="t"/>
          <a:lstStyle/>
          <a:p>
            <a:pPr indent="0" marL="0">
              <a:lnSpc>
                <a:spcPct val="150000"/>
              </a:lnSpc>
              <a:buNone/>
            </a:pPr>
            <a:r>
              <a:rPr lang="en-US" sz="1400" dirty="0">
                <a:solidFill>
                  <a:srgbClr val="F8FAFC"/>
                </a:solidFill>
                <a:latin typeface="Segoe UI" pitchFamily="34" charset="0"/>
                <a:ea typeface="Segoe UI" pitchFamily="34" charset="-122"/>
                <a:cs typeface="Segoe UI" pitchFamily="34" charset="-120"/>
              </a:rPr>
              <a:t>Information Systems graduate from AMIKOM Yogyakarta University with strong enthusiasm for developing a career in information technology with experience in Finance, Digital Marketing, and internship as a Web Developer. Skilled in website development and project management. Capable of working effectively both in teams and individually. Active in various activities including college projects and organizations, demonstrating excellent time management and teamwork abilities.</a:t>
            </a:r>
            <a:endParaRPr lang="en-US" sz="1400" dirty="0"/>
          </a:p>
        </p:txBody>
      </p:sp>
      <p:sp>
        <p:nvSpPr>
          <p:cNvPr id="7" name="Shape 5"/>
          <p:cNvSpPr/>
          <p:nvPr/>
        </p:nvSpPr>
        <p:spPr>
          <a:xfrm>
            <a:off x="731520" y="3840480"/>
            <a:ext cx="5029200" cy="1645920"/>
          </a:xfrm>
          <a:prstGeom prst="roundRect">
            <a:avLst>
              <a:gd name="adj" fmla="val 8333"/>
            </a:avLst>
          </a:prstGeom>
          <a:solidFill>
            <a:srgbClr val="334155"/>
          </a:solidFill>
          <a:ln/>
        </p:spPr>
      </p:sp>
      <p:sp>
        <p:nvSpPr>
          <p:cNvPr id="8" name="Text 6"/>
          <p:cNvSpPr/>
          <p:nvPr/>
        </p:nvSpPr>
        <p:spPr>
          <a:xfrm>
            <a:off x="1005840" y="3931920"/>
            <a:ext cx="4572000" cy="457200"/>
          </a:xfrm>
          <a:prstGeom prst="rect">
            <a:avLst/>
          </a:prstGeom>
          <a:noFill/>
          <a:ln/>
        </p:spPr>
        <p:txBody>
          <a:bodyPr wrap="square" rtlCol="0" anchor="ctr"/>
          <a:lstStyle/>
          <a:p>
            <a:pPr indent="0" marL="0">
              <a:buNone/>
            </a:pPr>
            <a:r>
              <a:rPr lang="en-US" sz="1600" b="1" dirty="0">
                <a:solidFill>
                  <a:srgbClr val="3B82F6"/>
                </a:solidFill>
                <a:latin typeface="Segoe UI" pitchFamily="34" charset="0"/>
                <a:ea typeface="Segoe UI" pitchFamily="34" charset="-122"/>
                <a:cs typeface="Segoe UI" pitchFamily="34" charset="-120"/>
              </a:rPr>
              <a:t>🎓 Education</a:t>
            </a:r>
            <a:endParaRPr lang="en-US" sz="1600" dirty="0"/>
          </a:p>
        </p:txBody>
      </p:sp>
      <p:sp>
        <p:nvSpPr>
          <p:cNvPr id="9" name="Text 7"/>
          <p:cNvSpPr/>
          <p:nvPr/>
        </p:nvSpPr>
        <p:spPr>
          <a:xfrm>
            <a:off x="1005840" y="4389120"/>
            <a:ext cx="4572000" cy="1005840"/>
          </a:xfrm>
          <a:prstGeom prst="rect">
            <a:avLst/>
          </a:prstGeom>
          <a:noFill/>
          <a:ln/>
        </p:spPr>
        <p:txBody>
          <a:bodyPr wrap="square" rtlCol="0" anchor="ctr"/>
          <a:lstStyle/>
          <a:p>
            <a:pPr indent="0" marL="0">
              <a:lnSpc>
                <a:spcPct val="140000"/>
              </a:lnSpc>
              <a:buNone/>
            </a:pPr>
            <a:r>
              <a:rPr lang="en-US" sz="1200" dirty="0">
                <a:solidFill>
                  <a:srgbClr val="F8FAFC"/>
                </a:solidFill>
                <a:latin typeface="Segoe UI" pitchFamily="34" charset="0"/>
                <a:ea typeface="Segoe UI" pitchFamily="34" charset="-122"/>
                <a:cs typeface="Segoe UI" pitchFamily="34" charset="-120"/>
              </a:rPr>
              <a:t>Bachelor of Information Systems</a:t>
            </a:r>
            <a:endParaRPr lang="en-US" sz="1200" dirty="0"/>
          </a:p>
          <a:p>
            <a:pPr indent="0" marL="0">
              <a:lnSpc>
                <a:spcPct val="140000"/>
              </a:lnSpc>
              <a:buNone/>
            </a:pPr>
            <a:r>
              <a:rPr lang="en-US" sz="1200" dirty="0">
                <a:solidFill>
                  <a:srgbClr val="F8FAFC"/>
                </a:solidFill>
                <a:latin typeface="Segoe UI" pitchFamily="34" charset="0"/>
                <a:ea typeface="Segoe UI" pitchFamily="34" charset="-122"/>
                <a:cs typeface="Segoe UI" pitchFamily="34" charset="-120"/>
              </a:rPr>
              <a:t>AMIKOM University Yogyakarta</a:t>
            </a:r>
            <a:endParaRPr lang="en-US" sz="1200" dirty="0"/>
          </a:p>
          <a:p>
            <a:pPr indent="0" marL="0">
              <a:lnSpc>
                <a:spcPct val="140000"/>
              </a:lnSpc>
              <a:buNone/>
            </a:pPr>
            <a:r>
              <a:rPr lang="en-US" sz="1200" dirty="0">
                <a:solidFill>
                  <a:srgbClr val="F8FAFC"/>
                </a:solidFill>
                <a:latin typeface="Segoe UI" pitchFamily="34" charset="0"/>
                <a:ea typeface="Segoe UI" pitchFamily="34" charset="-122"/>
                <a:cs typeface="Segoe UI" pitchFamily="34" charset="-120"/>
              </a:rPr>
              <a:t>2021 - 2025  •  GPA: 3.67 out of 4.00</a:t>
            </a:r>
            <a:endParaRPr lang="en-US" sz="1200" dirty="0"/>
          </a:p>
        </p:txBody>
      </p:sp>
      <p:sp>
        <p:nvSpPr>
          <p:cNvPr id="10" name="Shape 8"/>
          <p:cNvSpPr/>
          <p:nvPr/>
        </p:nvSpPr>
        <p:spPr>
          <a:xfrm>
            <a:off x="8229600" y="1371600"/>
            <a:ext cx="3474720" cy="4114800"/>
          </a:xfrm>
          <a:prstGeom prst="roundRect">
            <a:avLst>
              <a:gd name="adj" fmla="val 3947"/>
            </a:avLst>
          </a:prstGeom>
          <a:solidFill>
            <a:srgbClr val="334155"/>
          </a:solidFill>
          <a:ln/>
        </p:spPr>
      </p:sp>
      <p:sp>
        <p:nvSpPr>
          <p:cNvPr id="11" name="Text 9"/>
          <p:cNvSpPr/>
          <p:nvPr/>
        </p:nvSpPr>
        <p:spPr>
          <a:xfrm>
            <a:off x="8503920" y="1463040"/>
            <a:ext cx="2926080" cy="457200"/>
          </a:xfrm>
          <a:prstGeom prst="rect">
            <a:avLst/>
          </a:prstGeom>
          <a:noFill/>
          <a:ln/>
        </p:spPr>
        <p:txBody>
          <a:bodyPr wrap="square" rtlCol="0" anchor="ctr"/>
          <a:lstStyle/>
          <a:p>
            <a:pPr indent="0" marL="0">
              <a:buNone/>
            </a:pPr>
            <a:r>
              <a:rPr lang="en-US" sz="1600" b="1" dirty="0">
                <a:solidFill>
                  <a:srgbClr val="3B82F6"/>
                </a:solidFill>
                <a:latin typeface="Segoe UI" pitchFamily="34" charset="0"/>
                <a:ea typeface="Segoe UI" pitchFamily="34" charset="-122"/>
                <a:cs typeface="Segoe UI" pitchFamily="34" charset="-120"/>
              </a:rPr>
              <a:t>💡 Soft Skills</a:t>
            </a:r>
            <a:endParaRPr lang="en-US" sz="1600" dirty="0"/>
          </a:p>
        </p:txBody>
      </p:sp>
      <p:sp>
        <p:nvSpPr>
          <p:cNvPr id="12" name="Text 10"/>
          <p:cNvSpPr/>
          <p:nvPr/>
        </p:nvSpPr>
        <p:spPr>
          <a:xfrm>
            <a:off x="8503920" y="2011680"/>
            <a:ext cx="2926080" cy="3200400"/>
          </a:xfrm>
          <a:prstGeom prst="rect">
            <a:avLst/>
          </a:prstGeom>
          <a:noFill/>
          <a:ln/>
        </p:spPr>
        <p:txBody>
          <a:bodyPr wrap="square" rtlCol="0" anchor="t"/>
          <a:lstStyle/>
          <a:p>
            <a:pPr indent="0" marL="0">
              <a:lnSpc>
                <a:spcPct val="150000"/>
              </a:lnSpc>
              <a:buNone/>
            </a:pPr>
            <a:r>
              <a:rPr lang="en-US" sz="1300" dirty="0">
                <a:solidFill>
                  <a:srgbClr val="F8FAFC"/>
                </a:solidFill>
                <a:latin typeface="Segoe UI" pitchFamily="34" charset="0"/>
                <a:ea typeface="Segoe UI" pitchFamily="34" charset="-122"/>
                <a:cs typeface="Segoe UI" pitchFamily="34" charset="-120"/>
              </a:rPr>
              <a:t>•  Teamwork</a:t>
            </a:r>
            <a:endParaRPr lang="en-US" sz="1300" dirty="0"/>
          </a:p>
          <a:p>
            <a:pPr indent="0" marL="0">
              <a:lnSpc>
                <a:spcPct val="150000"/>
              </a:lnSpc>
              <a:buNone/>
            </a:pPr>
            <a:r>
              <a:rPr lang="en-US" sz="1300" dirty="0">
                <a:solidFill>
                  <a:srgbClr val="F8FAFC"/>
                </a:solidFill>
                <a:latin typeface="Segoe UI" pitchFamily="34" charset="0"/>
                <a:ea typeface="Segoe UI" pitchFamily="34" charset="-122"/>
                <a:cs typeface="Segoe UI" pitchFamily="34" charset="-120"/>
              </a:rPr>
              <a:t>•  Time Management</a:t>
            </a:r>
            <a:endParaRPr lang="en-US" sz="1300" dirty="0"/>
          </a:p>
          <a:p>
            <a:pPr indent="0" marL="0">
              <a:lnSpc>
                <a:spcPct val="150000"/>
              </a:lnSpc>
              <a:buNone/>
            </a:pPr>
            <a:r>
              <a:rPr lang="en-US" sz="1300" dirty="0">
                <a:solidFill>
                  <a:srgbClr val="F8FAFC"/>
                </a:solidFill>
                <a:latin typeface="Segoe UI" pitchFamily="34" charset="0"/>
                <a:ea typeface="Segoe UI" pitchFamily="34" charset="-122"/>
                <a:cs typeface="Segoe UI" pitchFamily="34" charset="-120"/>
              </a:rPr>
              <a:t>•  Problem Solving</a:t>
            </a:r>
            <a:endParaRPr lang="en-US" sz="1300" dirty="0"/>
          </a:p>
          <a:p>
            <a:pPr indent="0" marL="0">
              <a:lnSpc>
                <a:spcPct val="150000"/>
              </a:lnSpc>
              <a:buNone/>
            </a:pPr>
            <a:r>
              <a:rPr lang="en-US" sz="1300" dirty="0">
                <a:solidFill>
                  <a:srgbClr val="F8FAFC"/>
                </a:solidFill>
                <a:latin typeface="Segoe UI" pitchFamily="34" charset="0"/>
                <a:ea typeface="Segoe UI" pitchFamily="34" charset="-122"/>
                <a:cs typeface="Segoe UI" pitchFamily="34" charset="-120"/>
              </a:rPr>
              <a:t>•  Discipline</a:t>
            </a:r>
            <a:endParaRPr lang="en-US" sz="1300" dirty="0"/>
          </a:p>
          <a:p>
            <a:pPr indent="0" marL="0">
              <a:lnSpc>
                <a:spcPct val="150000"/>
              </a:lnSpc>
              <a:buNone/>
            </a:pPr>
            <a:r>
              <a:rPr lang="en-US" sz="1300" dirty="0">
                <a:solidFill>
                  <a:srgbClr val="F8FAFC"/>
                </a:solidFill>
                <a:latin typeface="Segoe UI" pitchFamily="34" charset="0"/>
                <a:ea typeface="Segoe UI" pitchFamily="34" charset="-122"/>
                <a:cs typeface="Segoe UI" pitchFamily="34" charset="-120"/>
              </a:rPr>
              <a:t>•  Fast Adaptation</a:t>
            </a:r>
            <a:endParaRPr lang="en-US" sz="1300" dirty="0"/>
          </a:p>
          <a:p>
            <a:pPr indent="0" marL="0">
              <a:lnSpc>
                <a:spcPct val="150000"/>
              </a:lnSpc>
              <a:buNone/>
            </a:pPr>
            <a:r>
              <a:rPr lang="en-US" sz="1300" dirty="0">
                <a:solidFill>
                  <a:srgbClr val="F8FAFC"/>
                </a:solidFill>
                <a:latin typeface="Segoe UI" pitchFamily="34" charset="0"/>
                <a:ea typeface="Segoe UI" pitchFamily="34" charset="-122"/>
                <a:cs typeface="Segoe UI" pitchFamily="34" charset="-120"/>
              </a:rPr>
              <a:t>•  Critical Thinking</a:t>
            </a:r>
            <a:endParaRPr lang="en-US" sz="1300" dirty="0"/>
          </a:p>
          <a:p>
            <a:pPr indent="0" marL="0">
              <a:lnSpc>
                <a:spcPct val="150000"/>
              </a:lnSpc>
              <a:buNone/>
            </a:pPr>
            <a:r>
              <a:rPr lang="en-US" sz="1300" dirty="0">
                <a:solidFill>
                  <a:srgbClr val="F8FAFC"/>
                </a:solidFill>
                <a:latin typeface="Segoe UI" pitchFamily="34" charset="0"/>
                <a:ea typeface="Segoe UI" pitchFamily="34" charset="-122"/>
                <a:cs typeface="Segoe UI" pitchFamily="34" charset="-120"/>
              </a:rPr>
              <a:t>•  Hardworking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3B82F6">
              <a:alpha val="10000"/>
            </a:srgbClr>
          </a:solidFill>
          <a:ln/>
        </p:spPr>
      </p:sp>
      <p:sp>
        <p:nvSpPr>
          <p:cNvPr id="3" name="Shape 1"/>
          <p:cNvSpPr/>
          <p:nvPr/>
        </p:nvSpPr>
        <p:spPr>
          <a:xfrm>
            <a:off x="10058400" y="5029200"/>
            <a:ext cx="3200400" cy="3200400"/>
          </a:xfrm>
          <a:prstGeom prst="ellipse">
            <a:avLst/>
          </a:prstGeom>
          <a:solidFill>
            <a:srgbClr val="8B5CF6">
              <a:alpha val="10000"/>
            </a:srgbClr>
          </a:solidFill>
          <a:ln/>
        </p:spPr>
      </p:sp>
      <p:sp>
        <p:nvSpPr>
          <p:cNvPr id="4" name="Shape 2"/>
          <p:cNvSpPr/>
          <p:nvPr/>
        </p:nvSpPr>
        <p:spPr>
          <a:xfrm>
            <a:off x="0" y="0"/>
            <a:ext cx="12188952" cy="1005840"/>
          </a:xfrm>
          <a:prstGeom prst="roundRect">
            <a:avLst/>
          </a:prstGeom>
          <a:solidFill>
            <a:srgbClr val="1E293B"/>
          </a:solidFill>
          <a:ln/>
        </p:spPr>
      </p:sp>
      <p:sp>
        <p:nvSpPr>
          <p:cNvPr id="5" name="Text 3"/>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3B82F6"/>
                </a:solidFill>
                <a:latin typeface="Segoe UI" pitchFamily="34" charset="0"/>
                <a:ea typeface="Segoe UI" pitchFamily="34" charset="-122"/>
                <a:cs typeface="Segoe UI" pitchFamily="34" charset="-120"/>
              </a:rPr>
              <a:t>🎓  EDUCATION</a:t>
            </a:r>
            <a:endParaRPr lang="en-US" sz="2800" dirty="0"/>
          </a:p>
        </p:txBody>
      </p:sp>
      <p:sp>
        <p:nvSpPr>
          <p:cNvPr id="6" name="Shape 4"/>
          <p:cNvSpPr/>
          <p:nvPr/>
        </p:nvSpPr>
        <p:spPr>
          <a:xfrm>
            <a:off x="914400" y="1371600"/>
            <a:ext cx="10058400" cy="1828800"/>
          </a:xfrm>
          <a:prstGeom prst="roundRect">
            <a:avLst>
              <a:gd name="adj" fmla="val 7500"/>
            </a:avLst>
          </a:prstGeom>
          <a:solidFill>
            <a:srgbClr val="334155"/>
          </a:solidFill>
          <a:ln/>
        </p:spPr>
      </p:sp>
      <p:sp>
        <p:nvSpPr>
          <p:cNvPr id="7" name="Shape 5"/>
          <p:cNvSpPr/>
          <p:nvPr/>
        </p:nvSpPr>
        <p:spPr>
          <a:xfrm>
            <a:off x="914400" y="1371600"/>
            <a:ext cx="109728" cy="1828800"/>
          </a:xfrm>
          <a:prstGeom prst="roundRect">
            <a:avLst/>
          </a:prstGeom>
          <a:solidFill>
            <a:srgbClr val="3B82F6"/>
          </a:solidFill>
          <a:ln/>
        </p:spPr>
      </p:sp>
      <p:sp>
        <p:nvSpPr>
          <p:cNvPr id="8" name="Text 6"/>
          <p:cNvSpPr/>
          <p:nvPr/>
        </p:nvSpPr>
        <p:spPr>
          <a:xfrm>
            <a:off x="1371600" y="1508760"/>
            <a:ext cx="640080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Bachelor Degree, Computer Science</a:t>
            </a:r>
            <a:endParaRPr lang="en-US" sz="1800" dirty="0"/>
          </a:p>
        </p:txBody>
      </p:sp>
      <p:sp>
        <p:nvSpPr>
          <p:cNvPr id="9" name="Text 7"/>
          <p:cNvSpPr/>
          <p:nvPr/>
        </p:nvSpPr>
        <p:spPr>
          <a:xfrm>
            <a:off x="1371600" y="1965960"/>
            <a:ext cx="6400800" cy="365760"/>
          </a:xfrm>
          <a:prstGeom prst="rect">
            <a:avLst/>
          </a:prstGeom>
          <a:noFill/>
          <a:ln/>
        </p:spPr>
        <p:txBody>
          <a:bodyPr wrap="square" rtlCol="0" anchor="ctr"/>
          <a:lstStyle/>
          <a:p>
            <a:pPr indent="0" marL="0">
              <a:buNone/>
            </a:pPr>
            <a:r>
              <a:rPr lang="en-US" sz="1400" dirty="0">
                <a:solidFill>
                  <a:srgbClr val="94A3B8"/>
                </a:solidFill>
                <a:latin typeface="Segoe UI" pitchFamily="34" charset="0"/>
                <a:ea typeface="Segoe UI" pitchFamily="34" charset="-122"/>
                <a:cs typeface="Segoe UI" pitchFamily="34" charset="-120"/>
              </a:rPr>
              <a:t>AMIKOM University, Yogyakarta</a:t>
            </a:r>
            <a:endParaRPr lang="en-US" sz="1400" dirty="0"/>
          </a:p>
        </p:txBody>
      </p:sp>
      <p:sp>
        <p:nvSpPr>
          <p:cNvPr id="10" name="Text 8"/>
          <p:cNvSpPr/>
          <p:nvPr/>
        </p:nvSpPr>
        <p:spPr>
          <a:xfrm>
            <a:off x="1371600" y="2377440"/>
            <a:ext cx="6400800" cy="365760"/>
          </a:xfrm>
          <a:prstGeom prst="rect">
            <a:avLst/>
          </a:prstGeom>
          <a:noFill/>
          <a:ln/>
        </p:spPr>
        <p:txBody>
          <a:bodyPr wrap="square" rtlCol="0" anchor="ctr"/>
          <a:lstStyle/>
          <a:p>
            <a:pPr indent="0" marL="0">
              <a:buNone/>
            </a:pPr>
            <a:r>
              <a:rPr lang="en-US" sz="1300" b="1" dirty="0">
                <a:solidFill>
                  <a:srgbClr val="10B981"/>
                </a:solidFill>
                <a:latin typeface="Segoe UI" pitchFamily="34" charset="0"/>
                <a:ea typeface="Segoe UI" pitchFamily="34" charset="-122"/>
                <a:cs typeface="Segoe UI" pitchFamily="34" charset="-120"/>
              </a:rPr>
              <a:t>GPA - 3.67</a:t>
            </a:r>
            <a:endParaRPr lang="en-US" sz="1300" dirty="0"/>
          </a:p>
        </p:txBody>
      </p:sp>
      <p:sp>
        <p:nvSpPr>
          <p:cNvPr id="11" name="Text 9"/>
          <p:cNvSpPr/>
          <p:nvPr/>
        </p:nvSpPr>
        <p:spPr>
          <a:xfrm>
            <a:off x="7315200" y="1508760"/>
            <a:ext cx="3200400" cy="457200"/>
          </a:xfrm>
          <a:prstGeom prst="rect">
            <a:avLst/>
          </a:prstGeom>
          <a:noFill/>
          <a:ln/>
        </p:spPr>
        <p:txBody>
          <a:bodyPr wrap="square" rtlCol="0" anchor="ctr"/>
          <a:lstStyle/>
          <a:p>
            <a:pPr algn="r" indent="0" marL="0">
              <a:buNone/>
            </a:pPr>
            <a:r>
              <a:rPr lang="en-US" sz="1200" dirty="0">
                <a:solidFill>
                  <a:srgbClr val="3B82F6"/>
                </a:solidFill>
                <a:latin typeface="Segoe UI" pitchFamily="34" charset="0"/>
                <a:ea typeface="Segoe UI" pitchFamily="34" charset="-122"/>
                <a:cs typeface="Segoe UI" pitchFamily="34" charset="-120"/>
              </a:rPr>
              <a:t>September 2021 - March 2025</a:t>
            </a:r>
            <a:endParaRPr lang="en-US" sz="1200" dirty="0"/>
          </a:p>
        </p:txBody>
      </p:sp>
      <p:sp>
        <p:nvSpPr>
          <p:cNvPr id="12" name="Shape 10"/>
          <p:cNvSpPr/>
          <p:nvPr/>
        </p:nvSpPr>
        <p:spPr>
          <a:xfrm>
            <a:off x="914400" y="3657600"/>
            <a:ext cx="10058400" cy="1828800"/>
          </a:xfrm>
          <a:prstGeom prst="roundRect">
            <a:avLst>
              <a:gd name="adj" fmla="val 7500"/>
            </a:avLst>
          </a:prstGeom>
          <a:solidFill>
            <a:srgbClr val="334155"/>
          </a:solidFill>
          <a:ln/>
        </p:spPr>
      </p:sp>
      <p:sp>
        <p:nvSpPr>
          <p:cNvPr id="13" name="Shape 11"/>
          <p:cNvSpPr/>
          <p:nvPr/>
        </p:nvSpPr>
        <p:spPr>
          <a:xfrm>
            <a:off x="914400" y="3657600"/>
            <a:ext cx="109728" cy="1828800"/>
          </a:xfrm>
          <a:prstGeom prst="roundRect">
            <a:avLst/>
          </a:prstGeom>
          <a:solidFill>
            <a:srgbClr val="3B82F6"/>
          </a:solidFill>
          <a:ln/>
        </p:spPr>
      </p:sp>
      <p:sp>
        <p:nvSpPr>
          <p:cNvPr id="14" name="Text 12"/>
          <p:cNvSpPr/>
          <p:nvPr/>
        </p:nvSpPr>
        <p:spPr>
          <a:xfrm>
            <a:off x="1371600" y="3794760"/>
            <a:ext cx="640080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High School, Software Engineering</a:t>
            </a:r>
            <a:endParaRPr lang="en-US" sz="1800" dirty="0"/>
          </a:p>
        </p:txBody>
      </p:sp>
      <p:sp>
        <p:nvSpPr>
          <p:cNvPr id="15" name="Text 13"/>
          <p:cNvSpPr/>
          <p:nvPr/>
        </p:nvSpPr>
        <p:spPr>
          <a:xfrm>
            <a:off x="1371600" y="4251960"/>
            <a:ext cx="6400800" cy="365760"/>
          </a:xfrm>
          <a:prstGeom prst="rect">
            <a:avLst/>
          </a:prstGeom>
          <a:noFill/>
          <a:ln/>
        </p:spPr>
        <p:txBody>
          <a:bodyPr wrap="square" rtlCol="0" anchor="ctr"/>
          <a:lstStyle/>
          <a:p>
            <a:pPr indent="0" marL="0">
              <a:buNone/>
            </a:pPr>
            <a:r>
              <a:rPr lang="en-US" sz="1400" dirty="0">
                <a:solidFill>
                  <a:srgbClr val="94A3B8"/>
                </a:solidFill>
                <a:latin typeface="Segoe UI" pitchFamily="34" charset="0"/>
                <a:ea typeface="Segoe UI" pitchFamily="34" charset="-122"/>
                <a:cs typeface="Segoe UI" pitchFamily="34" charset="-120"/>
              </a:rPr>
              <a:t>State Vocational School Airlangga, Balikpapan</a:t>
            </a:r>
            <a:endParaRPr lang="en-US" sz="1400" dirty="0"/>
          </a:p>
        </p:txBody>
      </p:sp>
      <p:sp>
        <p:nvSpPr>
          <p:cNvPr id="16" name="Text 14"/>
          <p:cNvSpPr/>
          <p:nvPr/>
        </p:nvSpPr>
        <p:spPr>
          <a:xfrm>
            <a:off x="1371600" y="4663440"/>
            <a:ext cx="6400800" cy="365760"/>
          </a:xfrm>
          <a:prstGeom prst="rect">
            <a:avLst/>
          </a:prstGeom>
          <a:noFill/>
          <a:ln/>
        </p:spPr>
        <p:txBody>
          <a:bodyPr wrap="square" rtlCol="0" anchor="ctr"/>
          <a:lstStyle/>
          <a:p>
            <a:pPr indent="0" marL="0">
              <a:buNone/>
            </a:pPr>
            <a:r>
              <a:rPr lang="en-US" sz="1300" b="1" dirty="0">
                <a:solidFill>
                  <a:srgbClr val="10B981"/>
                </a:solidFill>
                <a:latin typeface="Segoe UI" pitchFamily="34" charset="0"/>
                <a:ea typeface="Segoe UI" pitchFamily="34" charset="-122"/>
                <a:cs typeface="Segoe UI" pitchFamily="34" charset="-120"/>
              </a:rPr>
              <a:t>Marks - 84/100</a:t>
            </a:r>
            <a:endParaRPr lang="en-US" sz="1300" dirty="0"/>
          </a:p>
        </p:txBody>
      </p:sp>
      <p:sp>
        <p:nvSpPr>
          <p:cNvPr id="17" name="Text 15"/>
          <p:cNvSpPr/>
          <p:nvPr/>
        </p:nvSpPr>
        <p:spPr>
          <a:xfrm>
            <a:off x="7315200" y="3794760"/>
            <a:ext cx="3200400" cy="457200"/>
          </a:xfrm>
          <a:prstGeom prst="rect">
            <a:avLst/>
          </a:prstGeom>
          <a:noFill/>
          <a:ln/>
        </p:spPr>
        <p:txBody>
          <a:bodyPr wrap="square" rtlCol="0" anchor="ctr"/>
          <a:lstStyle/>
          <a:p>
            <a:pPr algn="r" indent="0" marL="0">
              <a:buNone/>
            </a:pPr>
            <a:r>
              <a:rPr lang="en-US" sz="1200" dirty="0">
                <a:solidFill>
                  <a:srgbClr val="3B82F6"/>
                </a:solidFill>
                <a:latin typeface="Segoe UI" pitchFamily="34" charset="0"/>
                <a:ea typeface="Segoe UI" pitchFamily="34" charset="-122"/>
                <a:cs typeface="Segoe UI" pitchFamily="34" charset="-120"/>
              </a:rPr>
              <a:t>July 2018 - April 2021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3B82F6">
              <a:alpha val="10000"/>
            </a:srgbClr>
          </a:solidFill>
          <a:ln/>
        </p:spPr>
      </p:sp>
      <p:sp>
        <p:nvSpPr>
          <p:cNvPr id="3" name="Shape 1"/>
          <p:cNvSpPr/>
          <p:nvPr/>
        </p:nvSpPr>
        <p:spPr>
          <a:xfrm>
            <a:off x="10058400" y="5029200"/>
            <a:ext cx="3200400" cy="3200400"/>
          </a:xfrm>
          <a:prstGeom prst="ellipse">
            <a:avLst/>
          </a:prstGeom>
          <a:solidFill>
            <a:srgbClr val="8B5CF6">
              <a:alpha val="10000"/>
            </a:srgbClr>
          </a:solidFill>
          <a:ln/>
        </p:spPr>
      </p:sp>
      <p:sp>
        <p:nvSpPr>
          <p:cNvPr id="4" name="Shape 2"/>
          <p:cNvSpPr/>
          <p:nvPr/>
        </p:nvSpPr>
        <p:spPr>
          <a:xfrm>
            <a:off x="0" y="0"/>
            <a:ext cx="12188952" cy="1005840"/>
          </a:xfrm>
          <a:prstGeom prst="roundRect">
            <a:avLst/>
          </a:prstGeom>
          <a:solidFill>
            <a:srgbClr val="1E293B"/>
          </a:solidFill>
          <a:ln/>
        </p:spPr>
      </p:sp>
      <p:sp>
        <p:nvSpPr>
          <p:cNvPr id="5" name="Text 3"/>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3B82F6"/>
                </a:solidFill>
                <a:latin typeface="Segoe UI" pitchFamily="34" charset="0"/>
                <a:ea typeface="Segoe UI" pitchFamily="34" charset="-122"/>
                <a:cs typeface="Segoe UI" pitchFamily="34" charset="-120"/>
              </a:rPr>
              <a:t>💼  WORK EXPERIENCE</a:t>
            </a:r>
            <a:endParaRPr lang="en-US" sz="2800" dirty="0"/>
          </a:p>
        </p:txBody>
      </p:sp>
      <p:sp>
        <p:nvSpPr>
          <p:cNvPr id="6" name="Shape 4"/>
          <p:cNvSpPr/>
          <p:nvPr/>
        </p:nvSpPr>
        <p:spPr>
          <a:xfrm>
            <a:off x="731520" y="1280160"/>
            <a:ext cx="10698480" cy="1554480"/>
          </a:xfrm>
          <a:prstGeom prst="roundRect">
            <a:avLst>
              <a:gd name="adj" fmla="val 7059"/>
            </a:avLst>
          </a:prstGeom>
          <a:solidFill>
            <a:srgbClr val="334155"/>
          </a:solidFill>
          <a:ln/>
        </p:spPr>
      </p:sp>
      <p:sp>
        <p:nvSpPr>
          <p:cNvPr id="7" name="Shape 5"/>
          <p:cNvSpPr/>
          <p:nvPr/>
        </p:nvSpPr>
        <p:spPr>
          <a:xfrm>
            <a:off x="731520" y="1280160"/>
            <a:ext cx="91440" cy="1554480"/>
          </a:xfrm>
          <a:prstGeom prst="roundRect">
            <a:avLst/>
          </a:prstGeom>
          <a:solidFill>
            <a:srgbClr val="3B82F6"/>
          </a:solidFill>
          <a:ln/>
        </p:spPr>
      </p:sp>
      <p:sp>
        <p:nvSpPr>
          <p:cNvPr id="8" name="Text 6"/>
          <p:cNvSpPr/>
          <p:nvPr/>
        </p:nvSpPr>
        <p:spPr>
          <a:xfrm>
            <a:off x="1097280" y="1371600"/>
            <a:ext cx="548640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Payment Processing Staff</a:t>
            </a:r>
            <a:endParaRPr lang="en-US" sz="1600" dirty="0"/>
          </a:p>
        </p:txBody>
      </p:sp>
      <p:sp>
        <p:nvSpPr>
          <p:cNvPr id="9" name="Text 7"/>
          <p:cNvSpPr/>
          <p:nvPr/>
        </p:nvSpPr>
        <p:spPr>
          <a:xfrm>
            <a:off x="1097280" y="1737360"/>
            <a:ext cx="5486400" cy="320040"/>
          </a:xfrm>
          <a:prstGeom prst="rect">
            <a:avLst/>
          </a:prstGeom>
          <a:noFill/>
          <a:ln/>
        </p:spPr>
        <p:txBody>
          <a:bodyPr wrap="square"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BFI Finance - Branch Balikpapan  •  Full-Time</a:t>
            </a:r>
            <a:endParaRPr lang="en-US" sz="1100" dirty="0"/>
          </a:p>
        </p:txBody>
      </p:sp>
      <p:sp>
        <p:nvSpPr>
          <p:cNvPr id="10" name="Text 8"/>
          <p:cNvSpPr/>
          <p:nvPr/>
        </p:nvSpPr>
        <p:spPr>
          <a:xfrm>
            <a:off x="1097280" y="2057400"/>
            <a:ext cx="7315200" cy="640080"/>
          </a:xfrm>
          <a:prstGeom prst="rect">
            <a:avLst/>
          </a:prstGeom>
          <a:noFill/>
          <a:ln/>
        </p:spPr>
        <p:txBody>
          <a:bodyPr wrap="square" rtlCol="0" anchor="t"/>
          <a:lstStyle/>
          <a:p>
            <a:pPr indent="0" marL="0">
              <a:lnSpc>
                <a:spcPct val="130000"/>
              </a:lnSpc>
              <a:buNone/>
            </a:pPr>
            <a:r>
              <a:rPr lang="en-US" sz="1000" dirty="0">
                <a:solidFill>
                  <a:srgbClr val="F8FAFC"/>
                </a:solidFill>
                <a:latin typeface="Segoe UI" pitchFamily="34" charset="0"/>
                <a:ea typeface="Segoe UI" pitchFamily="34" charset="-122"/>
                <a:cs typeface="Segoe UI" pitchFamily="34" charset="-120"/>
              </a:rPr>
              <a:t>• Receive and record installment payments from consumers with accurate verification of payment amounts against outstanding installments.</a:t>
            </a:r>
            <a:endParaRPr lang="en-US" sz="1000" dirty="0"/>
          </a:p>
          <a:p>
            <a:pPr indent="0" marL="0">
              <a:lnSpc>
                <a:spcPct val="130000"/>
              </a:lnSpc>
              <a:buNone/>
            </a:pPr>
            <a:r>
              <a:rPr lang="en-US" sz="1000" dirty="0">
                <a:solidFill>
                  <a:srgbClr val="F8FAFC"/>
                </a:solidFill>
                <a:latin typeface="Segoe UI" pitchFamily="34" charset="0"/>
                <a:ea typeface="Segoe UI" pitchFamily="34" charset="-122"/>
                <a:cs typeface="Segoe UI" pitchFamily="34" charset="-120"/>
              </a:rPr>
              <a:t>• Deposit received installment payments to Escrow Bank according to procedures to ensure smooth company cash flow.</a:t>
            </a:r>
            <a:endParaRPr lang="en-US" sz="1000" dirty="0"/>
          </a:p>
        </p:txBody>
      </p:sp>
      <p:sp>
        <p:nvSpPr>
          <p:cNvPr id="11" name="Text 9"/>
          <p:cNvSpPr/>
          <p:nvPr/>
        </p:nvSpPr>
        <p:spPr>
          <a:xfrm>
            <a:off x="8686800" y="1371600"/>
            <a:ext cx="2560320" cy="365760"/>
          </a:xfrm>
          <a:prstGeom prst="rect">
            <a:avLst/>
          </a:prstGeom>
          <a:noFill/>
          <a:ln/>
        </p:spPr>
        <p:txBody>
          <a:bodyPr wrap="square" rtlCol="0" anchor="ctr"/>
          <a:lstStyle/>
          <a:p>
            <a:pPr algn="r" indent="0" marL="0">
              <a:buNone/>
            </a:pPr>
            <a:r>
              <a:rPr lang="en-US" sz="1100" b="1" dirty="0">
                <a:solidFill>
                  <a:srgbClr val="3B82F6"/>
                </a:solidFill>
                <a:latin typeface="Segoe UI" pitchFamily="34" charset="0"/>
                <a:ea typeface="Segoe UI" pitchFamily="34" charset="-122"/>
                <a:cs typeface="Segoe UI" pitchFamily="34" charset="-120"/>
              </a:rPr>
              <a:t>Jun 2025 – Present</a:t>
            </a:r>
            <a:endParaRPr lang="en-US" sz="1100" dirty="0"/>
          </a:p>
        </p:txBody>
      </p:sp>
      <p:sp>
        <p:nvSpPr>
          <p:cNvPr id="12" name="Shape 10"/>
          <p:cNvSpPr/>
          <p:nvPr/>
        </p:nvSpPr>
        <p:spPr>
          <a:xfrm>
            <a:off x="731520" y="3017520"/>
            <a:ext cx="10698480" cy="1554480"/>
          </a:xfrm>
          <a:prstGeom prst="roundRect">
            <a:avLst>
              <a:gd name="adj" fmla="val 7059"/>
            </a:avLst>
          </a:prstGeom>
          <a:solidFill>
            <a:srgbClr val="334155"/>
          </a:solidFill>
          <a:ln/>
        </p:spPr>
      </p:sp>
      <p:sp>
        <p:nvSpPr>
          <p:cNvPr id="13" name="Shape 11"/>
          <p:cNvSpPr/>
          <p:nvPr/>
        </p:nvSpPr>
        <p:spPr>
          <a:xfrm>
            <a:off x="731520" y="3017520"/>
            <a:ext cx="91440" cy="1554480"/>
          </a:xfrm>
          <a:prstGeom prst="roundRect">
            <a:avLst/>
          </a:prstGeom>
          <a:solidFill>
            <a:srgbClr val="10B981"/>
          </a:solidFill>
          <a:ln/>
        </p:spPr>
      </p:sp>
      <p:sp>
        <p:nvSpPr>
          <p:cNvPr id="14" name="Text 12"/>
          <p:cNvSpPr/>
          <p:nvPr/>
        </p:nvSpPr>
        <p:spPr>
          <a:xfrm>
            <a:off x="1097280" y="3108960"/>
            <a:ext cx="548640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Digital Marketing Freelance</a:t>
            </a:r>
            <a:endParaRPr lang="en-US" sz="1600" dirty="0"/>
          </a:p>
        </p:txBody>
      </p:sp>
      <p:sp>
        <p:nvSpPr>
          <p:cNvPr id="15" name="Text 13"/>
          <p:cNvSpPr/>
          <p:nvPr/>
        </p:nvSpPr>
        <p:spPr>
          <a:xfrm>
            <a:off x="1097280" y="3474720"/>
            <a:ext cx="5486400" cy="320040"/>
          </a:xfrm>
          <a:prstGeom prst="rect">
            <a:avLst/>
          </a:prstGeom>
          <a:noFill/>
          <a:ln/>
        </p:spPr>
        <p:txBody>
          <a:bodyPr wrap="square"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PT. PJMA 5 YK1  •  Freelance</a:t>
            </a:r>
            <a:endParaRPr lang="en-US" sz="1100" dirty="0"/>
          </a:p>
        </p:txBody>
      </p:sp>
      <p:sp>
        <p:nvSpPr>
          <p:cNvPr id="16" name="Text 14"/>
          <p:cNvSpPr/>
          <p:nvPr/>
        </p:nvSpPr>
        <p:spPr>
          <a:xfrm>
            <a:off x="1097280" y="3794760"/>
            <a:ext cx="7315200" cy="640080"/>
          </a:xfrm>
          <a:prstGeom prst="rect">
            <a:avLst/>
          </a:prstGeom>
          <a:noFill/>
          <a:ln/>
        </p:spPr>
        <p:txBody>
          <a:bodyPr wrap="square" rtlCol="0" anchor="t"/>
          <a:lstStyle/>
          <a:p>
            <a:pPr indent="0" marL="0">
              <a:lnSpc>
                <a:spcPct val="130000"/>
              </a:lnSpc>
              <a:buNone/>
            </a:pPr>
            <a:r>
              <a:rPr lang="en-US" sz="1000" dirty="0">
                <a:solidFill>
                  <a:srgbClr val="F8FAFC"/>
                </a:solidFill>
                <a:latin typeface="Segoe UI" pitchFamily="34" charset="0"/>
                <a:ea typeface="Segoe UI" pitchFamily="34" charset="-122"/>
                <a:cs typeface="Segoe UI" pitchFamily="34" charset="-120"/>
              </a:rPr>
              <a:t>• Market products online through Facebook Marketplace and run Facebook Ads campaigns to reach target audiences.</a:t>
            </a:r>
            <a:endParaRPr lang="en-US" sz="1000" dirty="0"/>
          </a:p>
          <a:p>
            <a:pPr indent="0" marL="0">
              <a:lnSpc>
                <a:spcPct val="130000"/>
              </a:lnSpc>
              <a:buNone/>
            </a:pPr>
            <a:r>
              <a:rPr lang="en-US" sz="1000" dirty="0">
                <a:solidFill>
                  <a:srgbClr val="F8FAFC"/>
                </a:solidFill>
                <a:latin typeface="Segoe UI" pitchFamily="34" charset="0"/>
                <a:ea typeface="Segoe UI" pitchFamily="34" charset="-122"/>
                <a:cs typeface="Segoe UI" pitchFamily="34" charset="-120"/>
              </a:rPr>
              <a:t>• Conduct direct field promotions to potential customers with effective product presentations.</a:t>
            </a:r>
            <a:endParaRPr lang="en-US" sz="1000" dirty="0"/>
          </a:p>
        </p:txBody>
      </p:sp>
      <p:sp>
        <p:nvSpPr>
          <p:cNvPr id="17" name="Text 15"/>
          <p:cNvSpPr/>
          <p:nvPr/>
        </p:nvSpPr>
        <p:spPr>
          <a:xfrm>
            <a:off x="8686800" y="3108960"/>
            <a:ext cx="2560320" cy="365760"/>
          </a:xfrm>
          <a:prstGeom prst="rect">
            <a:avLst/>
          </a:prstGeom>
          <a:noFill/>
          <a:ln/>
        </p:spPr>
        <p:txBody>
          <a:bodyPr wrap="square" rtlCol="0" anchor="ctr"/>
          <a:lstStyle/>
          <a:p>
            <a:pPr algn="r" indent="0" marL="0">
              <a:buNone/>
            </a:pPr>
            <a:r>
              <a:rPr lang="en-US" sz="1100" b="1" dirty="0">
                <a:solidFill>
                  <a:srgbClr val="3B82F6"/>
                </a:solidFill>
                <a:latin typeface="Segoe UI" pitchFamily="34" charset="0"/>
                <a:ea typeface="Segoe UI" pitchFamily="34" charset="-122"/>
                <a:cs typeface="Segoe UI" pitchFamily="34" charset="-120"/>
              </a:rPr>
              <a:t>Nov 2024 – Jul 2025</a:t>
            </a:r>
            <a:endParaRPr lang="en-US" sz="1100" dirty="0"/>
          </a:p>
        </p:txBody>
      </p:sp>
      <p:sp>
        <p:nvSpPr>
          <p:cNvPr id="18" name="Shape 16"/>
          <p:cNvSpPr/>
          <p:nvPr/>
        </p:nvSpPr>
        <p:spPr>
          <a:xfrm>
            <a:off x="731520" y="4754880"/>
            <a:ext cx="10698480" cy="1554480"/>
          </a:xfrm>
          <a:prstGeom prst="roundRect">
            <a:avLst>
              <a:gd name="adj" fmla="val 7059"/>
            </a:avLst>
          </a:prstGeom>
          <a:solidFill>
            <a:srgbClr val="334155"/>
          </a:solidFill>
          <a:ln/>
        </p:spPr>
      </p:sp>
      <p:sp>
        <p:nvSpPr>
          <p:cNvPr id="19" name="Shape 17"/>
          <p:cNvSpPr/>
          <p:nvPr/>
        </p:nvSpPr>
        <p:spPr>
          <a:xfrm>
            <a:off x="731520" y="4754880"/>
            <a:ext cx="91440" cy="1554480"/>
          </a:xfrm>
          <a:prstGeom prst="roundRect">
            <a:avLst/>
          </a:prstGeom>
          <a:solidFill>
            <a:srgbClr val="F59E0B"/>
          </a:solidFill>
          <a:ln/>
        </p:spPr>
      </p:sp>
      <p:sp>
        <p:nvSpPr>
          <p:cNvPr id="20" name="Text 18"/>
          <p:cNvSpPr/>
          <p:nvPr/>
        </p:nvSpPr>
        <p:spPr>
          <a:xfrm>
            <a:off x="1097280" y="4846320"/>
            <a:ext cx="548640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Web Development Internship</a:t>
            </a:r>
            <a:endParaRPr lang="en-US" sz="1600" dirty="0"/>
          </a:p>
        </p:txBody>
      </p:sp>
      <p:sp>
        <p:nvSpPr>
          <p:cNvPr id="21" name="Text 19"/>
          <p:cNvSpPr/>
          <p:nvPr/>
        </p:nvSpPr>
        <p:spPr>
          <a:xfrm>
            <a:off x="1097280" y="5212080"/>
            <a:ext cx="5486400" cy="320040"/>
          </a:xfrm>
          <a:prstGeom prst="rect">
            <a:avLst/>
          </a:prstGeom>
          <a:noFill/>
          <a:ln/>
        </p:spPr>
        <p:txBody>
          <a:bodyPr wrap="square"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Telkom Regional VI Kalimantan  •  Internship</a:t>
            </a:r>
            <a:endParaRPr lang="en-US" sz="1100" dirty="0"/>
          </a:p>
        </p:txBody>
      </p:sp>
      <p:sp>
        <p:nvSpPr>
          <p:cNvPr id="22" name="Text 20"/>
          <p:cNvSpPr/>
          <p:nvPr/>
        </p:nvSpPr>
        <p:spPr>
          <a:xfrm>
            <a:off x="1097280" y="5532120"/>
            <a:ext cx="7315200" cy="640080"/>
          </a:xfrm>
          <a:prstGeom prst="rect">
            <a:avLst/>
          </a:prstGeom>
          <a:noFill/>
          <a:ln/>
        </p:spPr>
        <p:txBody>
          <a:bodyPr wrap="square" rtlCol="0" anchor="t"/>
          <a:lstStyle/>
          <a:p>
            <a:pPr indent="0" marL="0">
              <a:lnSpc>
                <a:spcPct val="130000"/>
              </a:lnSpc>
              <a:buNone/>
            </a:pPr>
            <a:r>
              <a:rPr lang="en-US" sz="1000" dirty="0">
                <a:solidFill>
                  <a:srgbClr val="F8FAFC"/>
                </a:solidFill>
                <a:latin typeface="Segoe UI" pitchFamily="34" charset="0"/>
                <a:ea typeface="Segoe UI" pitchFamily="34" charset="-122"/>
                <a:cs typeface="Segoe UI" pitchFamily="34" charset="-120"/>
              </a:rPr>
              <a:t>• Perform project management using Trello and Jira tools for progress tracking and team collaboration.</a:t>
            </a:r>
            <a:endParaRPr lang="en-US" sz="1000" dirty="0"/>
          </a:p>
          <a:p>
            <a:pPr indent="0" marL="0">
              <a:lnSpc>
                <a:spcPct val="130000"/>
              </a:lnSpc>
              <a:buNone/>
            </a:pPr>
            <a:r>
              <a:rPr lang="en-US" sz="1000" dirty="0">
                <a:solidFill>
                  <a:srgbClr val="F8FAFC"/>
                </a:solidFill>
                <a:latin typeface="Segoe UI" pitchFamily="34" charset="0"/>
                <a:ea typeface="Segoe UI" pitchFamily="34" charset="-122"/>
                <a:cs typeface="Segoe UI" pitchFamily="34" charset="-120"/>
              </a:rPr>
              <a:t>• Learn and utilize Git, Github, and modern libraries such as Livewire, Vite, and Tailwind CSS.</a:t>
            </a:r>
            <a:endParaRPr lang="en-US" sz="1000" dirty="0"/>
          </a:p>
        </p:txBody>
      </p:sp>
      <p:sp>
        <p:nvSpPr>
          <p:cNvPr id="23" name="Text 21"/>
          <p:cNvSpPr/>
          <p:nvPr/>
        </p:nvSpPr>
        <p:spPr>
          <a:xfrm>
            <a:off x="8686800" y="4846320"/>
            <a:ext cx="2560320" cy="365760"/>
          </a:xfrm>
          <a:prstGeom prst="rect">
            <a:avLst/>
          </a:prstGeom>
          <a:noFill/>
          <a:ln/>
        </p:spPr>
        <p:txBody>
          <a:bodyPr wrap="square" rtlCol="0" anchor="ctr"/>
          <a:lstStyle/>
          <a:p>
            <a:pPr algn="r" indent="0" marL="0">
              <a:buNone/>
            </a:pPr>
            <a:r>
              <a:rPr lang="en-US" sz="1100" b="1" dirty="0">
                <a:solidFill>
                  <a:srgbClr val="3B82F6"/>
                </a:solidFill>
                <a:latin typeface="Segoe UI" pitchFamily="34" charset="0"/>
                <a:ea typeface="Segoe UI" pitchFamily="34" charset="-122"/>
                <a:cs typeface="Segoe UI" pitchFamily="34" charset="-120"/>
              </a:rPr>
              <a:t>Feb 2024 – Jun 2024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3B82F6">
              <a:alpha val="10000"/>
            </a:srgbClr>
          </a:solidFill>
          <a:ln/>
        </p:spPr>
      </p:sp>
      <p:sp>
        <p:nvSpPr>
          <p:cNvPr id="3" name="Shape 1"/>
          <p:cNvSpPr/>
          <p:nvPr/>
        </p:nvSpPr>
        <p:spPr>
          <a:xfrm>
            <a:off x="10058400" y="5029200"/>
            <a:ext cx="3200400" cy="3200400"/>
          </a:xfrm>
          <a:prstGeom prst="ellipse">
            <a:avLst/>
          </a:prstGeom>
          <a:solidFill>
            <a:srgbClr val="8B5CF6">
              <a:alpha val="10000"/>
            </a:srgbClr>
          </a:solidFill>
          <a:ln/>
        </p:spPr>
      </p:sp>
      <p:sp>
        <p:nvSpPr>
          <p:cNvPr id="4" name="Shape 2"/>
          <p:cNvSpPr/>
          <p:nvPr/>
        </p:nvSpPr>
        <p:spPr>
          <a:xfrm>
            <a:off x="0" y="0"/>
            <a:ext cx="12188952" cy="1005840"/>
          </a:xfrm>
          <a:prstGeom prst="roundRect">
            <a:avLst/>
          </a:prstGeom>
          <a:solidFill>
            <a:srgbClr val="1E293B"/>
          </a:solidFill>
          <a:ln/>
        </p:spPr>
      </p:sp>
      <p:sp>
        <p:nvSpPr>
          <p:cNvPr id="5" name="Text 3"/>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3B82F6"/>
                </a:solidFill>
                <a:latin typeface="Segoe UI" pitchFamily="34" charset="0"/>
                <a:ea typeface="Segoe UI" pitchFamily="34" charset="-122"/>
                <a:cs typeface="Segoe UI" pitchFamily="34" charset="-120"/>
              </a:rPr>
              <a:t>💼  WORK EXPERIENCE</a:t>
            </a:r>
            <a:endParaRPr lang="en-US" sz="2800" dirty="0"/>
          </a:p>
        </p:txBody>
      </p:sp>
      <p:sp>
        <p:nvSpPr>
          <p:cNvPr id="6" name="Shape 4"/>
          <p:cNvSpPr/>
          <p:nvPr/>
        </p:nvSpPr>
        <p:spPr>
          <a:xfrm>
            <a:off x="731520" y="1280160"/>
            <a:ext cx="10698480" cy="1554480"/>
          </a:xfrm>
          <a:prstGeom prst="roundRect">
            <a:avLst>
              <a:gd name="adj" fmla="val 7059"/>
            </a:avLst>
          </a:prstGeom>
          <a:solidFill>
            <a:srgbClr val="334155"/>
          </a:solidFill>
          <a:ln/>
        </p:spPr>
      </p:sp>
      <p:sp>
        <p:nvSpPr>
          <p:cNvPr id="7" name="Shape 5"/>
          <p:cNvSpPr/>
          <p:nvPr/>
        </p:nvSpPr>
        <p:spPr>
          <a:xfrm>
            <a:off x="731520" y="1280160"/>
            <a:ext cx="91440" cy="1554480"/>
          </a:xfrm>
          <a:prstGeom prst="roundRect">
            <a:avLst/>
          </a:prstGeom>
          <a:solidFill>
            <a:srgbClr val="3B82F6"/>
          </a:solidFill>
          <a:ln/>
        </p:spPr>
      </p:sp>
      <p:sp>
        <p:nvSpPr>
          <p:cNvPr id="8" name="Text 6"/>
          <p:cNvSpPr/>
          <p:nvPr/>
        </p:nvSpPr>
        <p:spPr>
          <a:xfrm>
            <a:off x="1097280" y="1371600"/>
            <a:ext cx="548640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Graphic Designer</a:t>
            </a:r>
            <a:endParaRPr lang="en-US" sz="1600" dirty="0"/>
          </a:p>
        </p:txBody>
      </p:sp>
      <p:sp>
        <p:nvSpPr>
          <p:cNvPr id="9" name="Text 7"/>
          <p:cNvSpPr/>
          <p:nvPr/>
        </p:nvSpPr>
        <p:spPr>
          <a:xfrm>
            <a:off x="1097280" y="1737360"/>
            <a:ext cx="5486400" cy="320040"/>
          </a:xfrm>
          <a:prstGeom prst="rect">
            <a:avLst/>
          </a:prstGeom>
          <a:noFill/>
          <a:ln/>
        </p:spPr>
        <p:txBody>
          <a:bodyPr wrap="square"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Raja Geprek - Makassar  •  Freelance</a:t>
            </a:r>
            <a:endParaRPr lang="en-US" sz="1100" dirty="0"/>
          </a:p>
        </p:txBody>
      </p:sp>
      <p:sp>
        <p:nvSpPr>
          <p:cNvPr id="10" name="Text 8"/>
          <p:cNvSpPr/>
          <p:nvPr/>
        </p:nvSpPr>
        <p:spPr>
          <a:xfrm>
            <a:off x="1097280" y="2057400"/>
            <a:ext cx="7315200" cy="640080"/>
          </a:xfrm>
          <a:prstGeom prst="rect">
            <a:avLst/>
          </a:prstGeom>
          <a:noFill/>
          <a:ln/>
        </p:spPr>
        <p:txBody>
          <a:bodyPr wrap="square" rtlCol="0" anchor="t"/>
          <a:lstStyle/>
          <a:p>
            <a:pPr indent="0" marL="0">
              <a:lnSpc>
                <a:spcPct val="130000"/>
              </a:lnSpc>
              <a:buNone/>
            </a:pPr>
            <a:r>
              <a:rPr lang="en-US" sz="1000" dirty="0">
                <a:solidFill>
                  <a:srgbClr val="F8FAFC"/>
                </a:solidFill>
                <a:latin typeface="Segoe UI" pitchFamily="34" charset="0"/>
                <a:ea typeface="Segoe UI" pitchFamily="34" charset="-122"/>
                <a:cs typeface="Segoe UI" pitchFamily="34" charset="-120"/>
              </a:rPr>
              <a:t>• Create attractive promotional banner designs using Adobe Photoshop for offline and online marketing needs.</a:t>
            </a:r>
            <a:endParaRPr lang="en-US" sz="1000" dirty="0"/>
          </a:p>
          <a:p>
            <a:pPr indent="0" marL="0">
              <a:lnSpc>
                <a:spcPct val="130000"/>
              </a:lnSpc>
              <a:buNone/>
            </a:pPr>
            <a:r>
              <a:rPr lang="en-US" sz="1000" dirty="0">
                <a:solidFill>
                  <a:srgbClr val="F8FAFC"/>
                </a:solidFill>
                <a:latin typeface="Segoe UI" pitchFamily="34" charset="0"/>
                <a:ea typeface="Segoe UI" pitchFamily="34" charset="-122"/>
                <a:cs typeface="Segoe UI" pitchFamily="34" charset="-120"/>
              </a:rPr>
              <a:t>• Design product menu layouts that are visually appealing and easy to read using Photoshop.</a:t>
            </a:r>
            <a:endParaRPr lang="en-US" sz="1000" dirty="0"/>
          </a:p>
        </p:txBody>
      </p:sp>
      <p:sp>
        <p:nvSpPr>
          <p:cNvPr id="11" name="Text 9"/>
          <p:cNvSpPr/>
          <p:nvPr/>
        </p:nvSpPr>
        <p:spPr>
          <a:xfrm>
            <a:off x="8686800" y="1371600"/>
            <a:ext cx="2560320" cy="365760"/>
          </a:xfrm>
          <a:prstGeom prst="rect">
            <a:avLst/>
          </a:prstGeom>
          <a:noFill/>
          <a:ln/>
        </p:spPr>
        <p:txBody>
          <a:bodyPr wrap="square" rtlCol="0" anchor="ctr"/>
          <a:lstStyle/>
          <a:p>
            <a:pPr algn="r" indent="0" marL="0">
              <a:buNone/>
            </a:pPr>
            <a:r>
              <a:rPr lang="en-US" sz="1100" b="1" dirty="0">
                <a:solidFill>
                  <a:srgbClr val="3B82F6"/>
                </a:solidFill>
                <a:latin typeface="Segoe UI" pitchFamily="34" charset="0"/>
                <a:ea typeface="Segoe UI" pitchFamily="34" charset="-122"/>
                <a:cs typeface="Segoe UI" pitchFamily="34" charset="-120"/>
              </a:rPr>
              <a:t>Jun 2019 – Oct 2019</a:t>
            </a:r>
            <a:endParaRPr lang="en-US" sz="1100" dirty="0"/>
          </a:p>
        </p:txBody>
      </p:sp>
      <p:sp>
        <p:nvSpPr>
          <p:cNvPr id="12" name="Shape 10"/>
          <p:cNvSpPr/>
          <p:nvPr/>
        </p:nvSpPr>
        <p:spPr>
          <a:xfrm>
            <a:off x="731520" y="3017520"/>
            <a:ext cx="10698480" cy="1554480"/>
          </a:xfrm>
          <a:prstGeom prst="roundRect">
            <a:avLst>
              <a:gd name="adj" fmla="val 7059"/>
            </a:avLst>
          </a:prstGeom>
          <a:solidFill>
            <a:srgbClr val="334155"/>
          </a:solidFill>
          <a:ln/>
        </p:spPr>
      </p:sp>
      <p:sp>
        <p:nvSpPr>
          <p:cNvPr id="13" name="Shape 11"/>
          <p:cNvSpPr/>
          <p:nvPr/>
        </p:nvSpPr>
        <p:spPr>
          <a:xfrm>
            <a:off x="731520" y="3017520"/>
            <a:ext cx="91440" cy="1554480"/>
          </a:xfrm>
          <a:prstGeom prst="roundRect">
            <a:avLst/>
          </a:prstGeom>
          <a:solidFill>
            <a:srgbClr val="10B981"/>
          </a:solidFill>
          <a:ln/>
        </p:spPr>
      </p:sp>
      <p:sp>
        <p:nvSpPr>
          <p:cNvPr id="14" name="Text 12"/>
          <p:cNvSpPr/>
          <p:nvPr/>
        </p:nvSpPr>
        <p:spPr>
          <a:xfrm>
            <a:off x="1097280" y="3108960"/>
            <a:ext cx="548640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Web Developer</a:t>
            </a:r>
            <a:endParaRPr lang="en-US" sz="1600" dirty="0"/>
          </a:p>
        </p:txBody>
      </p:sp>
      <p:sp>
        <p:nvSpPr>
          <p:cNvPr id="15" name="Text 13"/>
          <p:cNvSpPr/>
          <p:nvPr/>
        </p:nvSpPr>
        <p:spPr>
          <a:xfrm>
            <a:off x="1097280" y="3474720"/>
            <a:ext cx="5486400" cy="320040"/>
          </a:xfrm>
          <a:prstGeom prst="rect">
            <a:avLst/>
          </a:prstGeom>
          <a:noFill/>
          <a:ln/>
        </p:spPr>
        <p:txBody>
          <a:bodyPr wrap="square"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Freelance Web Development  •  Freelance</a:t>
            </a:r>
            <a:endParaRPr lang="en-US" sz="1100" dirty="0"/>
          </a:p>
        </p:txBody>
      </p:sp>
      <p:sp>
        <p:nvSpPr>
          <p:cNvPr id="16" name="Text 14"/>
          <p:cNvSpPr/>
          <p:nvPr/>
        </p:nvSpPr>
        <p:spPr>
          <a:xfrm>
            <a:off x="1097280" y="3794760"/>
            <a:ext cx="7315200" cy="640080"/>
          </a:xfrm>
          <a:prstGeom prst="rect">
            <a:avLst/>
          </a:prstGeom>
          <a:noFill/>
          <a:ln/>
        </p:spPr>
        <p:txBody>
          <a:bodyPr wrap="square" rtlCol="0" anchor="t"/>
          <a:lstStyle/>
          <a:p>
            <a:pPr indent="0" marL="0">
              <a:lnSpc>
                <a:spcPct val="130000"/>
              </a:lnSpc>
              <a:buNone/>
            </a:pPr>
            <a:r>
              <a:rPr lang="en-US" sz="1000" dirty="0">
                <a:solidFill>
                  <a:srgbClr val="F8FAFC"/>
                </a:solidFill>
                <a:latin typeface="Segoe UI" pitchFamily="34" charset="0"/>
                <a:ea typeface="Segoe UI" pitchFamily="34" charset="-122"/>
                <a:cs typeface="Segoe UI" pitchFamily="34" charset="-120"/>
              </a:rPr>
              <a:t>• Design and develop websites based on client requirements and specific needs.</a:t>
            </a:r>
            <a:endParaRPr lang="en-US" sz="1000" dirty="0"/>
          </a:p>
          <a:p>
            <a:pPr indent="0" marL="0">
              <a:lnSpc>
                <a:spcPct val="130000"/>
              </a:lnSpc>
              <a:buNone/>
            </a:pPr>
            <a:r>
              <a:rPr lang="en-US" sz="1000" dirty="0">
                <a:solidFill>
                  <a:srgbClr val="F8FAFC"/>
                </a:solidFill>
                <a:latin typeface="Segoe UI" pitchFamily="34" charset="0"/>
                <a:ea typeface="Segoe UI" pitchFamily="34" charset="-122"/>
                <a:cs typeface="Segoe UI" pitchFamily="34" charset="-120"/>
              </a:rPr>
              <a:t>• Perform search engine optimization (SEO) to increase website visibility and organic traffic.</a:t>
            </a:r>
            <a:endParaRPr lang="en-US" sz="1000" dirty="0"/>
          </a:p>
        </p:txBody>
      </p:sp>
      <p:sp>
        <p:nvSpPr>
          <p:cNvPr id="17" name="Text 15"/>
          <p:cNvSpPr/>
          <p:nvPr/>
        </p:nvSpPr>
        <p:spPr>
          <a:xfrm>
            <a:off x="8686800" y="3108960"/>
            <a:ext cx="2560320" cy="365760"/>
          </a:xfrm>
          <a:prstGeom prst="rect">
            <a:avLst/>
          </a:prstGeom>
          <a:noFill/>
          <a:ln/>
        </p:spPr>
        <p:txBody>
          <a:bodyPr wrap="square" rtlCol="0" anchor="ctr"/>
          <a:lstStyle/>
          <a:p>
            <a:pPr algn="r" indent="0" marL="0">
              <a:buNone/>
            </a:pPr>
            <a:r>
              <a:rPr lang="en-US" sz="1100" b="1" dirty="0">
                <a:solidFill>
                  <a:srgbClr val="3B82F6"/>
                </a:solidFill>
                <a:latin typeface="Segoe UI" pitchFamily="34" charset="0"/>
                <a:ea typeface="Segoe UI" pitchFamily="34" charset="-122"/>
                <a:cs typeface="Segoe UI" pitchFamily="34" charset="-120"/>
              </a:rPr>
              <a:t>Oct 2024 – Present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3B82F6">
              <a:alpha val="10000"/>
            </a:srgbClr>
          </a:solidFill>
          <a:ln/>
        </p:spPr>
      </p:sp>
      <p:sp>
        <p:nvSpPr>
          <p:cNvPr id="3" name="Shape 1"/>
          <p:cNvSpPr/>
          <p:nvPr/>
        </p:nvSpPr>
        <p:spPr>
          <a:xfrm>
            <a:off x="10058400" y="5029200"/>
            <a:ext cx="3200400" cy="3200400"/>
          </a:xfrm>
          <a:prstGeom prst="ellipse">
            <a:avLst/>
          </a:prstGeom>
          <a:solidFill>
            <a:srgbClr val="8B5CF6">
              <a:alpha val="10000"/>
            </a:srgbClr>
          </a:solidFill>
          <a:ln/>
        </p:spPr>
      </p:sp>
      <p:sp>
        <p:nvSpPr>
          <p:cNvPr id="4" name="Shape 2"/>
          <p:cNvSpPr/>
          <p:nvPr/>
        </p:nvSpPr>
        <p:spPr>
          <a:xfrm>
            <a:off x="0" y="0"/>
            <a:ext cx="12188952" cy="1005840"/>
          </a:xfrm>
          <a:prstGeom prst="roundRect">
            <a:avLst/>
          </a:prstGeom>
          <a:solidFill>
            <a:srgbClr val="1E293B"/>
          </a:solidFill>
          <a:ln/>
        </p:spPr>
      </p:sp>
      <p:sp>
        <p:nvSpPr>
          <p:cNvPr id="5" name="Text 3"/>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3B82F6"/>
                </a:solidFill>
                <a:latin typeface="Segoe UI" pitchFamily="34" charset="0"/>
                <a:ea typeface="Segoe UI" pitchFamily="34" charset="-122"/>
                <a:cs typeface="Segoe UI" pitchFamily="34" charset="-120"/>
              </a:rPr>
              <a:t>🤝  ORGANIZATIONAL EXPERIENCE</a:t>
            </a:r>
            <a:endParaRPr lang="en-US" sz="2800" dirty="0"/>
          </a:p>
        </p:txBody>
      </p:sp>
      <p:sp>
        <p:nvSpPr>
          <p:cNvPr id="6" name="Shape 4"/>
          <p:cNvSpPr/>
          <p:nvPr/>
        </p:nvSpPr>
        <p:spPr>
          <a:xfrm>
            <a:off x="914400" y="1371600"/>
            <a:ext cx="10058400" cy="2011680"/>
          </a:xfrm>
          <a:prstGeom prst="roundRect">
            <a:avLst>
              <a:gd name="adj" fmla="val 6818"/>
            </a:avLst>
          </a:prstGeom>
          <a:solidFill>
            <a:srgbClr val="334155"/>
          </a:solidFill>
          <a:ln/>
        </p:spPr>
      </p:sp>
      <p:sp>
        <p:nvSpPr>
          <p:cNvPr id="7" name="Shape 5"/>
          <p:cNvSpPr/>
          <p:nvPr/>
        </p:nvSpPr>
        <p:spPr>
          <a:xfrm>
            <a:off x="914400" y="1371600"/>
            <a:ext cx="109728" cy="2011680"/>
          </a:xfrm>
          <a:prstGeom prst="roundRect">
            <a:avLst/>
          </a:prstGeom>
          <a:solidFill>
            <a:srgbClr val="10B981"/>
          </a:solidFill>
          <a:ln/>
        </p:spPr>
      </p:sp>
      <p:sp>
        <p:nvSpPr>
          <p:cNvPr id="8" name="Text 6"/>
          <p:cNvSpPr/>
          <p:nvPr/>
        </p:nvSpPr>
        <p:spPr>
          <a:xfrm>
            <a:off x="1371600" y="1463040"/>
            <a:ext cx="640080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Amikom Badminton Club</a:t>
            </a:r>
            <a:endParaRPr lang="en-US" sz="1800" dirty="0"/>
          </a:p>
        </p:txBody>
      </p:sp>
      <p:sp>
        <p:nvSpPr>
          <p:cNvPr id="9" name="Text 7"/>
          <p:cNvSpPr/>
          <p:nvPr/>
        </p:nvSpPr>
        <p:spPr>
          <a:xfrm>
            <a:off x="1371600" y="1874520"/>
            <a:ext cx="640080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Pengurus  •  Universitas Amikom Yogyakarta</a:t>
            </a:r>
            <a:endParaRPr lang="en-US" sz="1200" dirty="0"/>
          </a:p>
        </p:txBody>
      </p:sp>
      <p:sp>
        <p:nvSpPr>
          <p:cNvPr id="10" name="Text 8"/>
          <p:cNvSpPr/>
          <p:nvPr/>
        </p:nvSpPr>
        <p:spPr>
          <a:xfrm>
            <a:off x="7772400" y="1463040"/>
            <a:ext cx="2743200" cy="457200"/>
          </a:xfrm>
          <a:prstGeom prst="rect">
            <a:avLst/>
          </a:prstGeom>
          <a:noFill/>
          <a:ln/>
        </p:spPr>
        <p:txBody>
          <a:bodyPr wrap="square" rtlCol="0" anchor="ctr"/>
          <a:lstStyle/>
          <a:p>
            <a:pPr algn="r" indent="0" marL="0">
              <a:buNone/>
            </a:pPr>
            <a:r>
              <a:rPr lang="en-US" sz="1200" b="1" dirty="0">
                <a:solidFill>
                  <a:srgbClr val="3B82F6"/>
                </a:solidFill>
                <a:latin typeface="Segoe UI" pitchFamily="34" charset="0"/>
                <a:ea typeface="Segoe UI" pitchFamily="34" charset="-122"/>
                <a:cs typeface="Segoe UI" pitchFamily="34" charset="-120"/>
              </a:rPr>
              <a:t>Aug 2024 – Oct 2024</a:t>
            </a:r>
            <a:endParaRPr lang="en-US" sz="1200" dirty="0"/>
          </a:p>
        </p:txBody>
      </p:sp>
      <p:sp>
        <p:nvSpPr>
          <p:cNvPr id="11" name="Text 9"/>
          <p:cNvSpPr/>
          <p:nvPr/>
        </p:nvSpPr>
        <p:spPr>
          <a:xfrm>
            <a:off x="1371600" y="2240280"/>
            <a:ext cx="9144000" cy="1005840"/>
          </a:xfrm>
          <a:prstGeom prst="rect">
            <a:avLst/>
          </a:prstGeom>
          <a:noFill/>
          <a:ln/>
        </p:spPr>
        <p:txBody>
          <a:bodyPr wrap="square" rtlCol="0" anchor="t"/>
          <a:lstStyle/>
          <a:p>
            <a:pPr indent="0" marL="0">
              <a:lnSpc>
                <a:spcPct val="130000"/>
              </a:lnSpc>
              <a:buNone/>
            </a:pPr>
            <a:r>
              <a:rPr lang="en-US" sz="1100" dirty="0">
                <a:solidFill>
                  <a:srgbClr val="F8FAFC"/>
                </a:solidFill>
                <a:latin typeface="Segoe UI" pitchFamily="34" charset="0"/>
                <a:ea typeface="Segoe UI" pitchFamily="34" charset="-122"/>
                <a:cs typeface="Segoe UI" pitchFamily="34" charset="-120"/>
              </a:rPr>
              <a:t>•  Register new members for Amikom Badminton Club.</a:t>
            </a:r>
            <a:endParaRPr lang="en-US" sz="1100" dirty="0"/>
          </a:p>
          <a:p>
            <a:pPr indent="0" marL="0">
              <a:lnSpc>
                <a:spcPct val="130000"/>
              </a:lnSpc>
              <a:buNone/>
            </a:pPr>
            <a:r>
              <a:rPr lang="en-US" sz="1100" dirty="0">
                <a:solidFill>
                  <a:srgbClr val="F8FAFC"/>
                </a:solidFill>
                <a:latin typeface="Segoe UI" pitchFamily="34" charset="0"/>
                <a:ea typeface="Segoe UI" pitchFamily="34" charset="-122"/>
                <a:cs typeface="Segoe UI" pitchFamily="34" charset="-120"/>
              </a:rPr>
              <a:t>•  Manage Amikom Badminton Club's social media accounts.</a:t>
            </a:r>
            <a:endParaRPr lang="en-US" sz="1100" dirty="0"/>
          </a:p>
          <a:p>
            <a:pPr indent="0" marL="0">
              <a:lnSpc>
                <a:spcPct val="130000"/>
              </a:lnSpc>
              <a:buNone/>
            </a:pPr>
            <a:r>
              <a:rPr lang="en-US" sz="1100" dirty="0">
                <a:solidFill>
                  <a:srgbClr val="F8FAFC"/>
                </a:solidFill>
                <a:latin typeface="Segoe UI" pitchFamily="34" charset="0"/>
                <a:ea typeface="Segoe UI" pitchFamily="34" charset="-122"/>
                <a:cs typeface="Segoe UI" pitchFamily="34" charset="-120"/>
              </a:rPr>
              <a:t>•  Create Instagram feed posts using Canva.</a:t>
            </a:r>
            <a:endParaRPr lang="en-US" sz="1100" dirty="0"/>
          </a:p>
          <a:p>
            <a:pPr indent="0" marL="0">
              <a:lnSpc>
                <a:spcPct val="130000"/>
              </a:lnSpc>
              <a:buNone/>
            </a:pPr>
            <a:r>
              <a:rPr lang="en-US" sz="1100" dirty="0">
                <a:solidFill>
                  <a:srgbClr val="F8FAFC"/>
                </a:solidFill>
                <a:latin typeface="Segoe UI" pitchFamily="34" charset="0"/>
                <a:ea typeface="Segoe UI" pitchFamily="34" charset="-122"/>
                <a:cs typeface="Segoe UI" pitchFamily="34" charset="-120"/>
              </a:rPr>
              <a:t>•  Provide guidance and training to new club members.</a:t>
            </a:r>
            <a:endParaRPr lang="en-US" sz="1100" dirty="0"/>
          </a:p>
          <a:p>
            <a:pPr indent="0" marL="0">
              <a:lnSpc>
                <a:spcPct val="130000"/>
              </a:lnSpc>
              <a:buNone/>
            </a:pPr>
            <a:r>
              <a:rPr lang="en-US" sz="1100" dirty="0">
                <a:solidFill>
                  <a:srgbClr val="F8FAFC"/>
                </a:solidFill>
                <a:latin typeface="Segoe UI" pitchFamily="34" charset="0"/>
                <a:ea typeface="Segoe UI" pitchFamily="34" charset="-122"/>
                <a:cs typeface="Segoe UI" pitchFamily="34" charset="-120"/>
              </a:rPr>
              <a:t>•  Organize internal tournaments for club members.</a:t>
            </a:r>
            <a:endParaRPr lang="en-US" sz="1100" dirty="0"/>
          </a:p>
        </p:txBody>
      </p:sp>
      <p:sp>
        <p:nvSpPr>
          <p:cNvPr id="12" name="Shape 10"/>
          <p:cNvSpPr/>
          <p:nvPr/>
        </p:nvSpPr>
        <p:spPr>
          <a:xfrm>
            <a:off x="914400" y="3749040"/>
            <a:ext cx="10058400" cy="2011680"/>
          </a:xfrm>
          <a:prstGeom prst="roundRect">
            <a:avLst>
              <a:gd name="adj" fmla="val 6818"/>
            </a:avLst>
          </a:prstGeom>
          <a:solidFill>
            <a:srgbClr val="334155"/>
          </a:solidFill>
          <a:ln/>
        </p:spPr>
      </p:sp>
      <p:sp>
        <p:nvSpPr>
          <p:cNvPr id="13" name="Shape 11"/>
          <p:cNvSpPr/>
          <p:nvPr/>
        </p:nvSpPr>
        <p:spPr>
          <a:xfrm>
            <a:off x="914400" y="3749040"/>
            <a:ext cx="109728" cy="2011680"/>
          </a:xfrm>
          <a:prstGeom prst="roundRect">
            <a:avLst/>
          </a:prstGeom>
          <a:solidFill>
            <a:srgbClr val="10B981"/>
          </a:solidFill>
          <a:ln/>
        </p:spPr>
      </p:sp>
      <p:sp>
        <p:nvSpPr>
          <p:cNvPr id="14" name="Text 12"/>
          <p:cNvSpPr/>
          <p:nvPr/>
        </p:nvSpPr>
        <p:spPr>
          <a:xfrm>
            <a:off x="1371600" y="3840480"/>
            <a:ext cx="640080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Amikom Multimedia Community (KOMA)</a:t>
            </a:r>
            <a:endParaRPr lang="en-US" sz="1800" dirty="0"/>
          </a:p>
        </p:txBody>
      </p:sp>
      <p:sp>
        <p:nvSpPr>
          <p:cNvPr id="15" name="Text 13"/>
          <p:cNvSpPr/>
          <p:nvPr/>
        </p:nvSpPr>
        <p:spPr>
          <a:xfrm>
            <a:off x="1371600" y="4251960"/>
            <a:ext cx="640080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Member, Short Film Division  •  Universitas Amikom Yogyakarta</a:t>
            </a:r>
            <a:endParaRPr lang="en-US" sz="1200" dirty="0"/>
          </a:p>
        </p:txBody>
      </p:sp>
      <p:sp>
        <p:nvSpPr>
          <p:cNvPr id="16" name="Text 14"/>
          <p:cNvSpPr/>
          <p:nvPr/>
        </p:nvSpPr>
        <p:spPr>
          <a:xfrm>
            <a:off x="7772400" y="3840480"/>
            <a:ext cx="2743200" cy="457200"/>
          </a:xfrm>
          <a:prstGeom prst="rect">
            <a:avLst/>
          </a:prstGeom>
          <a:noFill/>
          <a:ln/>
        </p:spPr>
        <p:txBody>
          <a:bodyPr wrap="square" rtlCol="0" anchor="ctr"/>
          <a:lstStyle/>
          <a:p>
            <a:pPr algn="r" indent="0" marL="0">
              <a:buNone/>
            </a:pPr>
            <a:r>
              <a:rPr lang="en-US" sz="1200" b="1" dirty="0">
                <a:solidFill>
                  <a:srgbClr val="3B82F6"/>
                </a:solidFill>
                <a:latin typeface="Segoe UI" pitchFamily="34" charset="0"/>
                <a:ea typeface="Segoe UI" pitchFamily="34" charset="-122"/>
                <a:cs typeface="Segoe UI" pitchFamily="34" charset="-120"/>
              </a:rPr>
              <a:t>Mar 2023 – Mar 2024</a:t>
            </a:r>
            <a:endParaRPr lang="en-US" sz="1200" dirty="0"/>
          </a:p>
        </p:txBody>
      </p:sp>
      <p:sp>
        <p:nvSpPr>
          <p:cNvPr id="17" name="Text 15"/>
          <p:cNvSpPr/>
          <p:nvPr/>
        </p:nvSpPr>
        <p:spPr>
          <a:xfrm>
            <a:off x="1371600" y="4617720"/>
            <a:ext cx="9144000" cy="1005840"/>
          </a:xfrm>
          <a:prstGeom prst="rect">
            <a:avLst/>
          </a:prstGeom>
          <a:noFill/>
          <a:ln/>
        </p:spPr>
        <p:txBody>
          <a:bodyPr wrap="square" rtlCol="0" anchor="t"/>
          <a:lstStyle/>
          <a:p>
            <a:pPr indent="0" marL="0">
              <a:lnSpc>
                <a:spcPct val="130000"/>
              </a:lnSpc>
              <a:buNone/>
            </a:pPr>
            <a:r>
              <a:rPr lang="en-US" sz="1100" dirty="0">
                <a:solidFill>
                  <a:srgbClr val="F8FAFC"/>
                </a:solidFill>
                <a:latin typeface="Segoe UI" pitchFamily="34" charset="0"/>
                <a:ea typeface="Segoe UI" pitchFamily="34" charset="-122"/>
                <a:cs typeface="Segoe UI" pitchFamily="34" charset="-120"/>
              </a:rPr>
              <a:t>•  A division that studies and discusses the process of creating and writing scripts for short films, and divides tasks among team members to produce new works and experiences. Software used includes Adobe Premiere Pro and others.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3B82F6">
              <a:alpha val="10000"/>
            </a:srgbClr>
          </a:solidFill>
          <a:ln/>
        </p:spPr>
      </p:sp>
      <p:sp>
        <p:nvSpPr>
          <p:cNvPr id="3" name="Shape 1"/>
          <p:cNvSpPr/>
          <p:nvPr/>
        </p:nvSpPr>
        <p:spPr>
          <a:xfrm>
            <a:off x="10058400" y="5029200"/>
            <a:ext cx="3200400" cy="3200400"/>
          </a:xfrm>
          <a:prstGeom prst="ellipse">
            <a:avLst/>
          </a:prstGeom>
          <a:solidFill>
            <a:srgbClr val="8B5CF6">
              <a:alpha val="10000"/>
            </a:srgbClr>
          </a:solidFill>
          <a:ln/>
        </p:spPr>
      </p:sp>
      <p:sp>
        <p:nvSpPr>
          <p:cNvPr id="4" name="Shape 2"/>
          <p:cNvSpPr/>
          <p:nvPr/>
        </p:nvSpPr>
        <p:spPr>
          <a:xfrm>
            <a:off x="0" y="0"/>
            <a:ext cx="12188952" cy="1005840"/>
          </a:xfrm>
          <a:prstGeom prst="roundRect">
            <a:avLst/>
          </a:prstGeom>
          <a:solidFill>
            <a:srgbClr val="1E293B"/>
          </a:solidFill>
          <a:ln/>
        </p:spPr>
      </p:sp>
      <p:sp>
        <p:nvSpPr>
          <p:cNvPr id="5" name="Text 3"/>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3B82F6"/>
                </a:solidFill>
                <a:latin typeface="Segoe UI" pitchFamily="34" charset="0"/>
                <a:ea typeface="Segoe UI" pitchFamily="34" charset="-122"/>
                <a:cs typeface="Segoe UI" pitchFamily="34" charset="-120"/>
              </a:rPr>
              <a:t>🏆  ACHIEVEMENTS &amp; CERTIFICATIONS</a:t>
            </a:r>
            <a:endParaRPr lang="en-US" sz="2800" dirty="0"/>
          </a:p>
        </p:txBody>
      </p:sp>
      <p:sp>
        <p:nvSpPr>
          <p:cNvPr id="6" name="Shape 4"/>
          <p:cNvSpPr/>
          <p:nvPr/>
        </p:nvSpPr>
        <p:spPr>
          <a:xfrm>
            <a:off x="731520" y="1280160"/>
            <a:ext cx="3291840" cy="2194560"/>
          </a:xfrm>
          <a:prstGeom prst="roundRect">
            <a:avLst>
              <a:gd name="adj" fmla="val 5000"/>
            </a:avLst>
          </a:prstGeom>
          <a:solidFill>
            <a:srgbClr val="334155"/>
          </a:solidFill>
          <a:ln/>
        </p:spPr>
      </p:sp>
      <p:sp>
        <p:nvSpPr>
          <p:cNvPr id="7" name="Text 5"/>
          <p:cNvSpPr/>
          <p:nvPr/>
        </p:nvSpPr>
        <p:spPr>
          <a:xfrm>
            <a:off x="914400" y="1463040"/>
            <a:ext cx="2926080" cy="731520"/>
          </a:xfrm>
          <a:prstGeom prst="rect">
            <a:avLst/>
          </a:prstGeom>
          <a:noFill/>
          <a:ln/>
        </p:spPr>
        <p:txBody>
          <a:bodyPr wrap="square"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Membangun Aplikasi Gen AI dengan Microsoft Azure</a:t>
            </a:r>
            <a:endParaRPr lang="en-US" sz="1200" dirty="0"/>
          </a:p>
        </p:txBody>
      </p:sp>
      <p:sp>
        <p:nvSpPr>
          <p:cNvPr id="8" name="Text 6"/>
          <p:cNvSpPr/>
          <p:nvPr/>
        </p:nvSpPr>
        <p:spPr>
          <a:xfrm>
            <a:off x="914400" y="2194560"/>
            <a:ext cx="2926080" cy="365760"/>
          </a:xfrm>
          <a:prstGeom prst="rect">
            <a:avLst/>
          </a:prstGeom>
          <a:noFill/>
          <a:ln/>
        </p:spPr>
        <p:txBody>
          <a:bodyPr wrap="square" rtlCol="0" anchor="ctr"/>
          <a:lstStyle/>
          <a:p>
            <a:pPr indent="0" marL="0">
              <a:buNone/>
            </a:pPr>
            <a:r>
              <a:rPr lang="en-US" sz="1000" dirty="0">
                <a:solidFill>
                  <a:srgbClr val="3B82F6"/>
                </a:solidFill>
                <a:latin typeface="Segoe UI" pitchFamily="34" charset="0"/>
                <a:ea typeface="Segoe UI" pitchFamily="34" charset="-122"/>
                <a:cs typeface="Segoe UI" pitchFamily="34" charset="-120"/>
              </a:rPr>
              <a:t>Dicoding Indonesia</a:t>
            </a:r>
            <a:endParaRPr lang="en-US" sz="1000" dirty="0"/>
          </a:p>
        </p:txBody>
      </p:sp>
      <p:sp>
        <p:nvSpPr>
          <p:cNvPr id="9" name="Text 7"/>
          <p:cNvSpPr/>
          <p:nvPr/>
        </p:nvSpPr>
        <p:spPr>
          <a:xfrm>
            <a:off x="914400" y="2560320"/>
            <a:ext cx="292608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 Mar 2026</a:t>
            </a:r>
            <a:endParaRPr lang="en-US" sz="1000" dirty="0"/>
          </a:p>
        </p:txBody>
      </p:sp>
      <p:sp>
        <p:nvSpPr>
          <p:cNvPr id="10" name="Text 8"/>
          <p:cNvSpPr/>
          <p:nvPr/>
        </p:nvSpPr>
        <p:spPr>
          <a:xfrm>
            <a:off x="914400" y="2880360"/>
            <a:ext cx="292608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ID: 4EXG19WQDPRL</a:t>
            </a:r>
            <a:endParaRPr lang="en-US" sz="900" dirty="0"/>
          </a:p>
        </p:txBody>
      </p:sp>
      <p:sp>
        <p:nvSpPr>
          <p:cNvPr id="11" name="Shape 9"/>
          <p:cNvSpPr/>
          <p:nvPr/>
        </p:nvSpPr>
        <p:spPr>
          <a:xfrm>
            <a:off x="4389120" y="1280160"/>
            <a:ext cx="3291840" cy="2194560"/>
          </a:xfrm>
          <a:prstGeom prst="roundRect">
            <a:avLst>
              <a:gd name="adj" fmla="val 5000"/>
            </a:avLst>
          </a:prstGeom>
          <a:solidFill>
            <a:srgbClr val="334155"/>
          </a:solidFill>
          <a:ln/>
        </p:spPr>
      </p:sp>
      <p:sp>
        <p:nvSpPr>
          <p:cNvPr id="12" name="Text 10"/>
          <p:cNvSpPr/>
          <p:nvPr/>
        </p:nvSpPr>
        <p:spPr>
          <a:xfrm>
            <a:off x="4572000" y="1463040"/>
            <a:ext cx="2926080" cy="731520"/>
          </a:xfrm>
          <a:prstGeom prst="rect">
            <a:avLst/>
          </a:prstGeom>
          <a:noFill/>
          <a:ln/>
        </p:spPr>
        <p:txBody>
          <a:bodyPr wrap="square"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E-Certificate Payment Processing Staff</a:t>
            </a:r>
            <a:endParaRPr lang="en-US" sz="1200" dirty="0"/>
          </a:p>
        </p:txBody>
      </p:sp>
      <p:sp>
        <p:nvSpPr>
          <p:cNvPr id="13" name="Text 11"/>
          <p:cNvSpPr/>
          <p:nvPr/>
        </p:nvSpPr>
        <p:spPr>
          <a:xfrm>
            <a:off x="4572000" y="2194560"/>
            <a:ext cx="2926080" cy="365760"/>
          </a:xfrm>
          <a:prstGeom prst="rect">
            <a:avLst/>
          </a:prstGeom>
          <a:noFill/>
          <a:ln/>
        </p:spPr>
        <p:txBody>
          <a:bodyPr wrap="square" rtlCol="0" anchor="ctr"/>
          <a:lstStyle/>
          <a:p>
            <a:pPr indent="0" marL="0">
              <a:buNone/>
            </a:pPr>
            <a:r>
              <a:rPr lang="en-US" sz="1000" dirty="0">
                <a:solidFill>
                  <a:srgbClr val="3B82F6"/>
                </a:solidFill>
                <a:latin typeface="Segoe UI" pitchFamily="34" charset="0"/>
                <a:ea typeface="Segoe UI" pitchFamily="34" charset="-122"/>
                <a:cs typeface="Segoe UI" pitchFamily="34" charset="-120"/>
              </a:rPr>
              <a:t>PT BFI Finance Indonesia, Tbk</a:t>
            </a:r>
            <a:endParaRPr lang="en-US" sz="1000" dirty="0"/>
          </a:p>
        </p:txBody>
      </p:sp>
      <p:sp>
        <p:nvSpPr>
          <p:cNvPr id="14" name="Text 12"/>
          <p:cNvSpPr/>
          <p:nvPr/>
        </p:nvSpPr>
        <p:spPr>
          <a:xfrm>
            <a:off x="4572000" y="2560320"/>
            <a:ext cx="292608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 Jun 2025</a:t>
            </a:r>
            <a:endParaRPr lang="en-US" sz="1000" dirty="0"/>
          </a:p>
        </p:txBody>
      </p:sp>
      <p:sp>
        <p:nvSpPr>
          <p:cNvPr id="15" name="Shape 13"/>
          <p:cNvSpPr/>
          <p:nvPr/>
        </p:nvSpPr>
        <p:spPr>
          <a:xfrm>
            <a:off x="8046720" y="1280160"/>
            <a:ext cx="3291840" cy="2194560"/>
          </a:xfrm>
          <a:prstGeom prst="roundRect">
            <a:avLst>
              <a:gd name="adj" fmla="val 5000"/>
            </a:avLst>
          </a:prstGeom>
          <a:solidFill>
            <a:srgbClr val="334155"/>
          </a:solidFill>
          <a:ln/>
        </p:spPr>
      </p:sp>
      <p:sp>
        <p:nvSpPr>
          <p:cNvPr id="16" name="Text 14"/>
          <p:cNvSpPr/>
          <p:nvPr/>
        </p:nvSpPr>
        <p:spPr>
          <a:xfrm>
            <a:off x="8229600" y="1463040"/>
            <a:ext cx="2926080" cy="731520"/>
          </a:xfrm>
          <a:prstGeom prst="rect">
            <a:avLst/>
          </a:prstGeom>
          <a:noFill/>
          <a:ln/>
        </p:spPr>
        <p:txBody>
          <a:bodyPr wrap="square"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DATA SCIENCE FUNDAMENTAL</a:t>
            </a:r>
            <a:endParaRPr lang="en-US" sz="1200" dirty="0"/>
          </a:p>
        </p:txBody>
      </p:sp>
      <p:sp>
        <p:nvSpPr>
          <p:cNvPr id="17" name="Text 15"/>
          <p:cNvSpPr/>
          <p:nvPr/>
        </p:nvSpPr>
        <p:spPr>
          <a:xfrm>
            <a:off x="8229600" y="2194560"/>
            <a:ext cx="2926080" cy="365760"/>
          </a:xfrm>
          <a:prstGeom prst="rect">
            <a:avLst/>
          </a:prstGeom>
          <a:noFill/>
          <a:ln/>
        </p:spPr>
        <p:txBody>
          <a:bodyPr wrap="square" rtlCol="0" anchor="ctr"/>
          <a:lstStyle/>
          <a:p>
            <a:pPr indent="0" marL="0">
              <a:buNone/>
            </a:pPr>
            <a:r>
              <a:rPr lang="en-US" sz="1000" dirty="0">
                <a:solidFill>
                  <a:srgbClr val="3B82F6"/>
                </a:solidFill>
                <a:latin typeface="Segoe UI" pitchFamily="34" charset="0"/>
                <a:ea typeface="Segoe UI" pitchFamily="34" charset="-122"/>
                <a:cs typeface="Segoe UI" pitchFamily="34" charset="-120"/>
              </a:rPr>
              <a:t>MySkill</a:t>
            </a:r>
            <a:endParaRPr lang="en-US" sz="1000" dirty="0"/>
          </a:p>
        </p:txBody>
      </p:sp>
      <p:sp>
        <p:nvSpPr>
          <p:cNvPr id="18" name="Text 16"/>
          <p:cNvSpPr/>
          <p:nvPr/>
        </p:nvSpPr>
        <p:spPr>
          <a:xfrm>
            <a:off x="8229600" y="2560320"/>
            <a:ext cx="292608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 Apr 2025</a:t>
            </a:r>
            <a:endParaRPr lang="en-US" sz="1000" dirty="0"/>
          </a:p>
        </p:txBody>
      </p:sp>
      <p:sp>
        <p:nvSpPr>
          <p:cNvPr id="19" name="Shape 17"/>
          <p:cNvSpPr/>
          <p:nvPr/>
        </p:nvSpPr>
        <p:spPr>
          <a:xfrm>
            <a:off x="731520" y="3840480"/>
            <a:ext cx="3291840" cy="2194560"/>
          </a:xfrm>
          <a:prstGeom prst="roundRect">
            <a:avLst>
              <a:gd name="adj" fmla="val 5000"/>
            </a:avLst>
          </a:prstGeom>
          <a:solidFill>
            <a:srgbClr val="334155"/>
          </a:solidFill>
          <a:ln/>
        </p:spPr>
      </p:sp>
      <p:sp>
        <p:nvSpPr>
          <p:cNvPr id="20" name="Text 18"/>
          <p:cNvSpPr/>
          <p:nvPr/>
        </p:nvSpPr>
        <p:spPr>
          <a:xfrm>
            <a:off x="914400" y="4023360"/>
            <a:ext cx="2926080" cy="731520"/>
          </a:xfrm>
          <a:prstGeom prst="rect">
            <a:avLst/>
          </a:prstGeom>
          <a:noFill/>
          <a:ln/>
        </p:spPr>
        <p:txBody>
          <a:bodyPr wrap="square"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Sertifikat Amikom English Proficiency Test</a:t>
            </a:r>
            <a:endParaRPr lang="en-US" sz="1200" dirty="0"/>
          </a:p>
        </p:txBody>
      </p:sp>
      <p:sp>
        <p:nvSpPr>
          <p:cNvPr id="21" name="Text 19"/>
          <p:cNvSpPr/>
          <p:nvPr/>
        </p:nvSpPr>
        <p:spPr>
          <a:xfrm>
            <a:off x="914400" y="4754880"/>
            <a:ext cx="2926080" cy="365760"/>
          </a:xfrm>
          <a:prstGeom prst="rect">
            <a:avLst/>
          </a:prstGeom>
          <a:noFill/>
          <a:ln/>
        </p:spPr>
        <p:txBody>
          <a:bodyPr wrap="square" rtlCol="0" anchor="ctr"/>
          <a:lstStyle/>
          <a:p>
            <a:pPr indent="0" marL="0">
              <a:buNone/>
            </a:pPr>
            <a:r>
              <a:rPr lang="en-US" sz="1000" dirty="0">
                <a:solidFill>
                  <a:srgbClr val="3B82F6"/>
                </a:solidFill>
                <a:latin typeface="Segoe UI" pitchFamily="34" charset="0"/>
                <a:ea typeface="Segoe UI" pitchFamily="34" charset="-122"/>
                <a:cs typeface="Segoe UI" pitchFamily="34" charset="-120"/>
              </a:rPr>
              <a:t>Universitas AMIKOM Yogyakarta</a:t>
            </a:r>
            <a:endParaRPr lang="en-US" sz="1000" dirty="0"/>
          </a:p>
        </p:txBody>
      </p:sp>
      <p:sp>
        <p:nvSpPr>
          <p:cNvPr id="22" name="Text 20"/>
          <p:cNvSpPr/>
          <p:nvPr/>
        </p:nvSpPr>
        <p:spPr>
          <a:xfrm>
            <a:off x="914400" y="5120640"/>
            <a:ext cx="292608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 Mar 2025</a:t>
            </a:r>
            <a:endParaRPr lang="en-US" sz="1000" dirty="0"/>
          </a:p>
        </p:txBody>
      </p:sp>
      <p:sp>
        <p:nvSpPr>
          <p:cNvPr id="23" name="Text 21"/>
          <p:cNvSpPr/>
          <p:nvPr/>
        </p:nvSpPr>
        <p:spPr>
          <a:xfrm>
            <a:off x="914400" y="5440680"/>
            <a:ext cx="292608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ID: #AEPT032506706</a:t>
            </a:r>
            <a:endParaRPr lang="en-US" sz="900" dirty="0"/>
          </a:p>
        </p:txBody>
      </p:sp>
      <p:sp>
        <p:nvSpPr>
          <p:cNvPr id="24" name="Shape 22"/>
          <p:cNvSpPr/>
          <p:nvPr/>
        </p:nvSpPr>
        <p:spPr>
          <a:xfrm>
            <a:off x="4389120" y="3840480"/>
            <a:ext cx="3291840" cy="2194560"/>
          </a:xfrm>
          <a:prstGeom prst="roundRect">
            <a:avLst>
              <a:gd name="adj" fmla="val 5000"/>
            </a:avLst>
          </a:prstGeom>
          <a:solidFill>
            <a:srgbClr val="334155"/>
          </a:solidFill>
          <a:ln/>
        </p:spPr>
      </p:sp>
      <p:sp>
        <p:nvSpPr>
          <p:cNvPr id="25" name="Text 23"/>
          <p:cNvSpPr/>
          <p:nvPr/>
        </p:nvSpPr>
        <p:spPr>
          <a:xfrm>
            <a:off x="4572000" y="4023360"/>
            <a:ext cx="2926080" cy="731520"/>
          </a:xfrm>
          <a:prstGeom prst="rect">
            <a:avLst/>
          </a:prstGeom>
          <a:noFill/>
          <a:ln/>
        </p:spPr>
        <p:txBody>
          <a:bodyPr wrap="square"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Sertifikat Program Praktek Kerja Lapangan</a:t>
            </a:r>
            <a:endParaRPr lang="en-US" sz="1200" dirty="0"/>
          </a:p>
        </p:txBody>
      </p:sp>
      <p:sp>
        <p:nvSpPr>
          <p:cNvPr id="26" name="Text 24"/>
          <p:cNvSpPr/>
          <p:nvPr/>
        </p:nvSpPr>
        <p:spPr>
          <a:xfrm>
            <a:off x="4572000" y="4754880"/>
            <a:ext cx="2926080" cy="365760"/>
          </a:xfrm>
          <a:prstGeom prst="rect">
            <a:avLst/>
          </a:prstGeom>
          <a:noFill/>
          <a:ln/>
        </p:spPr>
        <p:txBody>
          <a:bodyPr wrap="square" rtlCol="0" anchor="ctr"/>
          <a:lstStyle/>
          <a:p>
            <a:pPr indent="0" marL="0">
              <a:buNone/>
            </a:pPr>
            <a:r>
              <a:rPr lang="en-US" sz="1000" dirty="0">
                <a:solidFill>
                  <a:srgbClr val="3B82F6"/>
                </a:solidFill>
                <a:latin typeface="Segoe UI" pitchFamily="34" charset="0"/>
                <a:ea typeface="Segoe UI" pitchFamily="34" charset="-122"/>
                <a:cs typeface="Segoe UI" pitchFamily="34" charset="-120"/>
              </a:rPr>
              <a:t>Telkom Indonesia</a:t>
            </a:r>
            <a:endParaRPr lang="en-US" sz="1000" dirty="0"/>
          </a:p>
        </p:txBody>
      </p:sp>
      <p:sp>
        <p:nvSpPr>
          <p:cNvPr id="27" name="Text 25"/>
          <p:cNvSpPr/>
          <p:nvPr/>
        </p:nvSpPr>
        <p:spPr>
          <a:xfrm>
            <a:off x="4572000" y="5120640"/>
            <a:ext cx="292608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 Aug 2024</a:t>
            </a:r>
            <a:endParaRPr lang="en-US" sz="1000" dirty="0"/>
          </a:p>
        </p:txBody>
      </p:sp>
      <p:sp>
        <p:nvSpPr>
          <p:cNvPr id="28" name="Text 26"/>
          <p:cNvSpPr/>
          <p:nvPr/>
        </p:nvSpPr>
        <p:spPr>
          <a:xfrm>
            <a:off x="4572000" y="5440680"/>
            <a:ext cx="292608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ID: TEL.0807/PD 620/TR6-R200/2024</a:t>
            </a:r>
            <a:endParaRPr lang="en-US" sz="900" dirty="0"/>
          </a:p>
        </p:txBody>
      </p:sp>
      <p:sp>
        <p:nvSpPr>
          <p:cNvPr id="29" name="Shape 27"/>
          <p:cNvSpPr/>
          <p:nvPr/>
        </p:nvSpPr>
        <p:spPr>
          <a:xfrm>
            <a:off x="8046720" y="3840480"/>
            <a:ext cx="3291840" cy="2194560"/>
          </a:xfrm>
          <a:prstGeom prst="roundRect">
            <a:avLst>
              <a:gd name="adj" fmla="val 5000"/>
            </a:avLst>
          </a:prstGeom>
          <a:solidFill>
            <a:srgbClr val="334155"/>
          </a:solidFill>
          <a:ln/>
        </p:spPr>
      </p:sp>
      <p:sp>
        <p:nvSpPr>
          <p:cNvPr id="30" name="Text 28"/>
          <p:cNvSpPr/>
          <p:nvPr/>
        </p:nvSpPr>
        <p:spPr>
          <a:xfrm>
            <a:off x="8229600" y="4023360"/>
            <a:ext cx="2926080" cy="731520"/>
          </a:xfrm>
          <a:prstGeom prst="rect">
            <a:avLst/>
          </a:prstGeom>
          <a:noFill/>
          <a:ln/>
        </p:spPr>
        <p:txBody>
          <a:bodyPr wrap="square"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Certificate of Appreciation: Energy System Integration</a:t>
            </a:r>
            <a:endParaRPr lang="en-US" sz="1200" dirty="0"/>
          </a:p>
        </p:txBody>
      </p:sp>
      <p:sp>
        <p:nvSpPr>
          <p:cNvPr id="31" name="Text 29"/>
          <p:cNvSpPr/>
          <p:nvPr/>
        </p:nvSpPr>
        <p:spPr>
          <a:xfrm>
            <a:off x="8229600" y="4754880"/>
            <a:ext cx="2926080" cy="365760"/>
          </a:xfrm>
          <a:prstGeom prst="rect">
            <a:avLst/>
          </a:prstGeom>
          <a:noFill/>
          <a:ln/>
        </p:spPr>
        <p:txBody>
          <a:bodyPr wrap="square" rtlCol="0" anchor="ctr"/>
          <a:lstStyle/>
          <a:p>
            <a:pPr indent="0" marL="0">
              <a:buNone/>
            </a:pPr>
            <a:r>
              <a:rPr lang="en-US" sz="1000" dirty="0">
                <a:solidFill>
                  <a:srgbClr val="3B82F6"/>
                </a:solidFill>
                <a:latin typeface="Segoe UI" pitchFamily="34" charset="0"/>
                <a:ea typeface="Segoe UI" pitchFamily="34" charset="-122"/>
                <a:cs typeface="Segoe UI" pitchFamily="34" charset="-120"/>
              </a:rPr>
              <a:t>DTMI Departemen Teknik Mesin dan Industri FT UGM</a:t>
            </a:r>
            <a:endParaRPr lang="en-US" sz="1000" dirty="0"/>
          </a:p>
        </p:txBody>
      </p:sp>
      <p:sp>
        <p:nvSpPr>
          <p:cNvPr id="32" name="Text 30"/>
          <p:cNvSpPr/>
          <p:nvPr/>
        </p:nvSpPr>
        <p:spPr>
          <a:xfrm>
            <a:off x="8229600" y="5120640"/>
            <a:ext cx="292608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 Nov 2023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3B82F6">
              <a:alpha val="10000"/>
            </a:srgbClr>
          </a:solidFill>
          <a:ln/>
        </p:spPr>
      </p:sp>
      <p:sp>
        <p:nvSpPr>
          <p:cNvPr id="3" name="Shape 1"/>
          <p:cNvSpPr/>
          <p:nvPr/>
        </p:nvSpPr>
        <p:spPr>
          <a:xfrm>
            <a:off x="10058400" y="5029200"/>
            <a:ext cx="3200400" cy="3200400"/>
          </a:xfrm>
          <a:prstGeom prst="ellipse">
            <a:avLst/>
          </a:prstGeom>
          <a:solidFill>
            <a:srgbClr val="8B5CF6">
              <a:alpha val="10000"/>
            </a:srgbClr>
          </a:solidFill>
          <a:ln/>
        </p:spPr>
      </p:sp>
      <p:sp>
        <p:nvSpPr>
          <p:cNvPr id="4" name="Shape 2"/>
          <p:cNvSpPr/>
          <p:nvPr/>
        </p:nvSpPr>
        <p:spPr>
          <a:xfrm>
            <a:off x="0" y="0"/>
            <a:ext cx="12188952" cy="1005840"/>
          </a:xfrm>
          <a:prstGeom prst="roundRect">
            <a:avLst/>
          </a:prstGeom>
          <a:solidFill>
            <a:srgbClr val="1E293B"/>
          </a:solidFill>
          <a:ln/>
        </p:spPr>
      </p:sp>
      <p:sp>
        <p:nvSpPr>
          <p:cNvPr id="5" name="Text 3"/>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3B82F6"/>
                </a:solidFill>
                <a:latin typeface="Segoe UI" pitchFamily="34" charset="0"/>
                <a:ea typeface="Segoe UI" pitchFamily="34" charset="-122"/>
                <a:cs typeface="Segoe UI" pitchFamily="34" charset="-120"/>
              </a:rPr>
              <a:t>🏆  ACHIEVEMENTS &amp; CERTIFICATIONS (cont.)</a:t>
            </a:r>
            <a:endParaRPr lang="en-US" sz="2800" dirty="0"/>
          </a:p>
        </p:txBody>
      </p:sp>
      <p:sp>
        <p:nvSpPr>
          <p:cNvPr id="6" name="Shape 4"/>
          <p:cNvSpPr/>
          <p:nvPr/>
        </p:nvSpPr>
        <p:spPr>
          <a:xfrm>
            <a:off x="731520" y="1280160"/>
            <a:ext cx="3291840" cy="2194560"/>
          </a:xfrm>
          <a:prstGeom prst="roundRect">
            <a:avLst>
              <a:gd name="adj" fmla="val 5000"/>
            </a:avLst>
          </a:prstGeom>
          <a:solidFill>
            <a:srgbClr val="334155"/>
          </a:solidFill>
          <a:ln/>
        </p:spPr>
      </p:sp>
      <p:sp>
        <p:nvSpPr>
          <p:cNvPr id="7" name="Text 5"/>
          <p:cNvSpPr/>
          <p:nvPr/>
        </p:nvSpPr>
        <p:spPr>
          <a:xfrm>
            <a:off x="914400" y="1463040"/>
            <a:ext cx="2926080" cy="731520"/>
          </a:xfrm>
          <a:prstGeom prst="rect">
            <a:avLst/>
          </a:prstGeom>
          <a:noFill/>
          <a:ln/>
        </p:spPr>
        <p:txBody>
          <a:bodyPr wrap="square"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Sosialisasi Kebijakan Perdagangan Elektronik (E-Commerce)</a:t>
            </a:r>
            <a:endParaRPr lang="en-US" sz="1200" dirty="0"/>
          </a:p>
        </p:txBody>
      </p:sp>
      <p:sp>
        <p:nvSpPr>
          <p:cNvPr id="8" name="Text 6"/>
          <p:cNvSpPr/>
          <p:nvPr/>
        </p:nvSpPr>
        <p:spPr>
          <a:xfrm>
            <a:off x="914400" y="2194560"/>
            <a:ext cx="2926080" cy="365760"/>
          </a:xfrm>
          <a:prstGeom prst="rect">
            <a:avLst/>
          </a:prstGeom>
          <a:noFill/>
          <a:ln/>
        </p:spPr>
        <p:txBody>
          <a:bodyPr wrap="square" rtlCol="0" anchor="ctr"/>
          <a:lstStyle/>
          <a:p>
            <a:pPr indent="0" marL="0">
              <a:buNone/>
            </a:pPr>
            <a:r>
              <a:rPr lang="en-US" sz="1000" dirty="0">
                <a:solidFill>
                  <a:srgbClr val="3B82F6"/>
                </a:solidFill>
                <a:latin typeface="Segoe UI" pitchFamily="34" charset="0"/>
                <a:ea typeface="Segoe UI" pitchFamily="34" charset="-122"/>
                <a:cs typeface="Segoe UI" pitchFamily="34" charset="-120"/>
              </a:rPr>
              <a:t>Kementerian Perdagangan Republik Indonesia</a:t>
            </a:r>
            <a:endParaRPr lang="en-US" sz="1000" dirty="0"/>
          </a:p>
        </p:txBody>
      </p:sp>
      <p:sp>
        <p:nvSpPr>
          <p:cNvPr id="9" name="Text 7"/>
          <p:cNvSpPr/>
          <p:nvPr/>
        </p:nvSpPr>
        <p:spPr>
          <a:xfrm>
            <a:off x="914400" y="2560320"/>
            <a:ext cx="292608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 Nov 2023</a:t>
            </a:r>
            <a:endParaRPr lang="en-US" sz="1000" dirty="0"/>
          </a:p>
        </p:txBody>
      </p:sp>
      <p:sp>
        <p:nvSpPr>
          <p:cNvPr id="10" name="Shape 8"/>
          <p:cNvSpPr/>
          <p:nvPr/>
        </p:nvSpPr>
        <p:spPr>
          <a:xfrm>
            <a:off x="4389120" y="1280160"/>
            <a:ext cx="3291840" cy="2194560"/>
          </a:xfrm>
          <a:prstGeom prst="roundRect">
            <a:avLst>
              <a:gd name="adj" fmla="val 5000"/>
            </a:avLst>
          </a:prstGeom>
          <a:solidFill>
            <a:srgbClr val="334155"/>
          </a:solidFill>
          <a:ln/>
        </p:spPr>
      </p:sp>
      <p:sp>
        <p:nvSpPr>
          <p:cNvPr id="11" name="Text 9"/>
          <p:cNvSpPr/>
          <p:nvPr/>
        </p:nvSpPr>
        <p:spPr>
          <a:xfrm>
            <a:off x="4572000" y="1463040"/>
            <a:ext cx="2926080" cy="731520"/>
          </a:xfrm>
          <a:prstGeom prst="rect">
            <a:avLst/>
          </a:prstGeom>
          <a:noFill/>
          <a:ln/>
        </p:spPr>
        <p:txBody>
          <a:bodyPr wrap="square"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Penghargaan Kompetisi UI/UX Design AMICTA 2023</a:t>
            </a:r>
            <a:endParaRPr lang="en-US" sz="1200" dirty="0"/>
          </a:p>
        </p:txBody>
      </p:sp>
      <p:sp>
        <p:nvSpPr>
          <p:cNvPr id="12" name="Text 10"/>
          <p:cNvSpPr/>
          <p:nvPr/>
        </p:nvSpPr>
        <p:spPr>
          <a:xfrm>
            <a:off x="4572000" y="2194560"/>
            <a:ext cx="2926080" cy="365760"/>
          </a:xfrm>
          <a:prstGeom prst="rect">
            <a:avLst/>
          </a:prstGeom>
          <a:noFill/>
          <a:ln/>
        </p:spPr>
        <p:txBody>
          <a:bodyPr wrap="square" rtlCol="0" anchor="ctr"/>
          <a:lstStyle/>
          <a:p>
            <a:pPr indent="0" marL="0">
              <a:buNone/>
            </a:pPr>
            <a:r>
              <a:rPr lang="en-US" sz="1000" dirty="0">
                <a:solidFill>
                  <a:srgbClr val="3B82F6"/>
                </a:solidFill>
                <a:latin typeface="Segoe UI" pitchFamily="34" charset="0"/>
                <a:ea typeface="Segoe UI" pitchFamily="34" charset="-122"/>
                <a:cs typeface="Segoe UI" pitchFamily="34" charset="-120"/>
              </a:rPr>
              <a:t>Universitas AMIKOM Yogyakarta</a:t>
            </a:r>
            <a:endParaRPr lang="en-US" sz="1000" dirty="0"/>
          </a:p>
        </p:txBody>
      </p:sp>
      <p:sp>
        <p:nvSpPr>
          <p:cNvPr id="13" name="Text 11"/>
          <p:cNvSpPr/>
          <p:nvPr/>
        </p:nvSpPr>
        <p:spPr>
          <a:xfrm>
            <a:off x="4572000" y="2560320"/>
            <a:ext cx="292608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 Sep 2023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3B82F6">
              <a:alpha val="10000"/>
            </a:srgbClr>
          </a:solidFill>
          <a:ln/>
        </p:spPr>
      </p:sp>
      <p:sp>
        <p:nvSpPr>
          <p:cNvPr id="3" name="Shape 1"/>
          <p:cNvSpPr/>
          <p:nvPr/>
        </p:nvSpPr>
        <p:spPr>
          <a:xfrm>
            <a:off x="10058400" y="5029200"/>
            <a:ext cx="3200400" cy="3200400"/>
          </a:xfrm>
          <a:prstGeom prst="ellipse">
            <a:avLst/>
          </a:prstGeom>
          <a:solidFill>
            <a:srgbClr val="8B5CF6">
              <a:alpha val="10000"/>
            </a:srgbClr>
          </a:solidFill>
          <a:ln/>
        </p:spPr>
      </p:sp>
      <p:sp>
        <p:nvSpPr>
          <p:cNvPr id="4" name="Shape 2"/>
          <p:cNvSpPr/>
          <p:nvPr/>
        </p:nvSpPr>
        <p:spPr>
          <a:xfrm>
            <a:off x="0" y="0"/>
            <a:ext cx="12188952" cy="1005840"/>
          </a:xfrm>
          <a:prstGeom prst="roundRect">
            <a:avLst/>
          </a:prstGeom>
          <a:solidFill>
            <a:srgbClr val="1E293B"/>
          </a:solidFill>
          <a:ln/>
        </p:spPr>
      </p:sp>
      <p:sp>
        <p:nvSpPr>
          <p:cNvPr id="5" name="Text 3"/>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3B82F6"/>
                </a:solidFill>
                <a:latin typeface="Segoe UI" pitchFamily="34" charset="0"/>
                <a:ea typeface="Segoe UI" pitchFamily="34" charset="-122"/>
                <a:cs typeface="Segoe UI" pitchFamily="34" charset="-120"/>
              </a:rPr>
              <a:t>💻  PROJECTS (1/3)</a:t>
            </a:r>
            <a:endParaRPr lang="en-US" sz="2800" dirty="0"/>
          </a:p>
        </p:txBody>
      </p:sp>
      <p:sp>
        <p:nvSpPr>
          <p:cNvPr id="6" name="Shape 4"/>
          <p:cNvSpPr/>
          <p:nvPr/>
        </p:nvSpPr>
        <p:spPr>
          <a:xfrm>
            <a:off x="731520" y="1280160"/>
            <a:ext cx="5212080" cy="2286000"/>
          </a:xfrm>
          <a:prstGeom prst="roundRect">
            <a:avLst>
              <a:gd name="adj" fmla="val 4800"/>
            </a:avLst>
          </a:prstGeom>
          <a:solidFill>
            <a:srgbClr val="334155"/>
          </a:solidFill>
          <a:ln/>
        </p:spPr>
      </p:sp>
      <p:sp>
        <p:nvSpPr>
          <p:cNvPr id="7" name="Shape 5"/>
          <p:cNvSpPr/>
          <p:nvPr/>
        </p:nvSpPr>
        <p:spPr>
          <a:xfrm>
            <a:off x="731520" y="1280160"/>
            <a:ext cx="5212080" cy="73152"/>
          </a:xfrm>
          <a:prstGeom prst="roundRect">
            <a:avLst/>
          </a:prstGeom>
          <a:solidFill>
            <a:srgbClr val="3B82F6"/>
          </a:solidFill>
          <a:ln/>
        </p:spPr>
      </p:sp>
      <p:sp>
        <p:nvSpPr>
          <p:cNvPr id="8" name="Text 6"/>
          <p:cNvSpPr/>
          <p:nvPr/>
        </p:nvSpPr>
        <p:spPr>
          <a:xfrm>
            <a:off x="1005840" y="1463040"/>
            <a:ext cx="466344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Teman Sudut - Kasir App</a:t>
            </a:r>
            <a:endParaRPr lang="en-US" sz="1400" dirty="0"/>
          </a:p>
        </p:txBody>
      </p:sp>
      <p:sp>
        <p:nvSpPr>
          <p:cNvPr id="9" name="Text 7"/>
          <p:cNvSpPr/>
          <p:nvPr/>
        </p:nvSpPr>
        <p:spPr>
          <a:xfrm>
            <a:off x="1005840" y="1874520"/>
            <a:ext cx="4663440" cy="1005840"/>
          </a:xfrm>
          <a:prstGeom prst="rect">
            <a:avLst/>
          </a:prstGeom>
          <a:noFill/>
          <a:ln/>
        </p:spPr>
        <p:txBody>
          <a:bodyPr wrap="square" rtlCol="0" anchor="t"/>
          <a:lstStyle/>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Cross-platform Point of Sales (POS) application for a coffee shop, Teman Sudut.</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Built with Flutter for seamless cross-platform support (Android, iOS, Web, Desktop).</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Backend powered by Laravel with Filament Admin Panel for real-time sales monitoring.</a:t>
            </a:r>
            <a:endParaRPr lang="en-US" sz="950" dirty="0"/>
          </a:p>
        </p:txBody>
      </p:sp>
      <p:sp>
        <p:nvSpPr>
          <p:cNvPr id="10" name="Text 8"/>
          <p:cNvSpPr/>
          <p:nvPr/>
        </p:nvSpPr>
        <p:spPr>
          <a:xfrm>
            <a:off x="1005840" y="2971800"/>
            <a:ext cx="4663440" cy="32004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Flutter  •  Dart  •  Laravel  •  Filament Admin  •  Android  •  iOS  •  Point of Sales</a:t>
            </a:r>
            <a:endParaRPr lang="en-US" sz="850" dirty="0"/>
          </a:p>
        </p:txBody>
      </p:sp>
      <p:sp>
        <p:nvSpPr>
          <p:cNvPr id="11" name="Text 9"/>
          <p:cNvSpPr/>
          <p:nvPr/>
        </p:nvSpPr>
        <p:spPr>
          <a:xfrm>
            <a:off x="1005840" y="3200400"/>
            <a:ext cx="466344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GitHub</a:t>
            </a:r>
            <a:endParaRPr lang="en-US" sz="900" dirty="0"/>
          </a:p>
        </p:txBody>
      </p:sp>
      <p:sp>
        <p:nvSpPr>
          <p:cNvPr id="12" name="Shape 10"/>
          <p:cNvSpPr/>
          <p:nvPr/>
        </p:nvSpPr>
        <p:spPr>
          <a:xfrm>
            <a:off x="6309360" y="1280160"/>
            <a:ext cx="5212080" cy="2286000"/>
          </a:xfrm>
          <a:prstGeom prst="roundRect">
            <a:avLst>
              <a:gd name="adj" fmla="val 4800"/>
            </a:avLst>
          </a:prstGeom>
          <a:solidFill>
            <a:srgbClr val="334155"/>
          </a:solidFill>
          <a:ln/>
        </p:spPr>
      </p:sp>
      <p:sp>
        <p:nvSpPr>
          <p:cNvPr id="13" name="Shape 11"/>
          <p:cNvSpPr/>
          <p:nvPr/>
        </p:nvSpPr>
        <p:spPr>
          <a:xfrm>
            <a:off x="6309360" y="1280160"/>
            <a:ext cx="5212080" cy="73152"/>
          </a:xfrm>
          <a:prstGeom prst="roundRect">
            <a:avLst/>
          </a:prstGeom>
          <a:solidFill>
            <a:srgbClr val="10B981"/>
          </a:solidFill>
          <a:ln/>
        </p:spPr>
      </p:sp>
      <p:sp>
        <p:nvSpPr>
          <p:cNvPr id="14" name="Text 12"/>
          <p:cNvSpPr/>
          <p:nvPr/>
        </p:nvSpPr>
        <p:spPr>
          <a:xfrm>
            <a:off x="6583680" y="1463040"/>
            <a:ext cx="466344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ChatRigel - AI Chatbot</a:t>
            </a:r>
            <a:endParaRPr lang="en-US" sz="1400" dirty="0"/>
          </a:p>
        </p:txBody>
      </p:sp>
      <p:sp>
        <p:nvSpPr>
          <p:cNvPr id="15" name="Text 13"/>
          <p:cNvSpPr/>
          <p:nvPr/>
        </p:nvSpPr>
        <p:spPr>
          <a:xfrm>
            <a:off x="6583680" y="1874520"/>
            <a:ext cx="4663440" cy="1005840"/>
          </a:xfrm>
          <a:prstGeom prst="rect">
            <a:avLst/>
          </a:prstGeom>
          <a:noFill/>
          <a:ln/>
        </p:spPr>
        <p:txBody>
          <a:bodyPr wrap="square" rtlCol="0" anchor="t"/>
          <a:lstStyle/>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Custom AI Chatbot Application.</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Frontend built with Nuxt.</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Backend API powered by Laravel.</a:t>
            </a:r>
            <a:endParaRPr lang="en-US" sz="950" dirty="0"/>
          </a:p>
        </p:txBody>
      </p:sp>
      <p:sp>
        <p:nvSpPr>
          <p:cNvPr id="16" name="Text 14"/>
          <p:cNvSpPr/>
          <p:nvPr/>
        </p:nvSpPr>
        <p:spPr>
          <a:xfrm>
            <a:off x="6583680" y="2971800"/>
            <a:ext cx="4663440" cy="32004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Nuxt  •  Laravel  •  Vue.js  •  Chatbot  •  AI</a:t>
            </a:r>
            <a:endParaRPr lang="en-US" sz="850" dirty="0"/>
          </a:p>
        </p:txBody>
      </p:sp>
      <p:sp>
        <p:nvSpPr>
          <p:cNvPr id="17" name="Text 15"/>
          <p:cNvSpPr/>
          <p:nvPr/>
        </p:nvSpPr>
        <p:spPr>
          <a:xfrm>
            <a:off x="6583680" y="3200400"/>
            <a:ext cx="466344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GitHub</a:t>
            </a:r>
            <a:endParaRPr lang="en-US" sz="900" dirty="0"/>
          </a:p>
        </p:txBody>
      </p:sp>
      <p:sp>
        <p:nvSpPr>
          <p:cNvPr id="18" name="Shape 16"/>
          <p:cNvSpPr/>
          <p:nvPr/>
        </p:nvSpPr>
        <p:spPr>
          <a:xfrm>
            <a:off x="731520" y="3840480"/>
            <a:ext cx="5212080" cy="2286000"/>
          </a:xfrm>
          <a:prstGeom prst="roundRect">
            <a:avLst>
              <a:gd name="adj" fmla="val 4800"/>
            </a:avLst>
          </a:prstGeom>
          <a:solidFill>
            <a:srgbClr val="334155"/>
          </a:solidFill>
          <a:ln/>
        </p:spPr>
      </p:sp>
      <p:sp>
        <p:nvSpPr>
          <p:cNvPr id="19" name="Shape 17"/>
          <p:cNvSpPr/>
          <p:nvPr/>
        </p:nvSpPr>
        <p:spPr>
          <a:xfrm>
            <a:off x="731520" y="3840480"/>
            <a:ext cx="5212080" cy="73152"/>
          </a:xfrm>
          <a:prstGeom prst="roundRect">
            <a:avLst/>
          </a:prstGeom>
          <a:solidFill>
            <a:srgbClr val="F59E0B"/>
          </a:solidFill>
          <a:ln/>
        </p:spPr>
      </p:sp>
      <p:sp>
        <p:nvSpPr>
          <p:cNvPr id="20" name="Text 18"/>
          <p:cNvSpPr/>
          <p:nvPr/>
        </p:nvSpPr>
        <p:spPr>
          <a:xfrm>
            <a:off x="1005840" y="4023360"/>
            <a:ext cx="466344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Kaltim Explore</a:t>
            </a:r>
            <a:endParaRPr lang="en-US" sz="1400" dirty="0"/>
          </a:p>
        </p:txBody>
      </p:sp>
      <p:sp>
        <p:nvSpPr>
          <p:cNvPr id="21" name="Text 19"/>
          <p:cNvSpPr/>
          <p:nvPr/>
        </p:nvSpPr>
        <p:spPr>
          <a:xfrm>
            <a:off x="1005840" y="4434840"/>
            <a:ext cx="4663440" cy="1005840"/>
          </a:xfrm>
          <a:prstGeom prst="rect">
            <a:avLst/>
          </a:prstGeom>
          <a:noFill/>
          <a:ln/>
        </p:spPr>
        <p:txBody>
          <a:bodyPr wrap="square" rtlCol="0" anchor="t"/>
          <a:lstStyle/>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Welcome to KaltimExplore Information System. </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Web application designed to showcase tourism destinations, news, and bookings for the East Borneo. </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It utilizes Laravel Filament for the backend administration panel and Next.js / React for the frontend user interface.</a:t>
            </a:r>
            <a:endParaRPr lang="en-US" sz="950" dirty="0"/>
          </a:p>
        </p:txBody>
      </p:sp>
      <p:sp>
        <p:nvSpPr>
          <p:cNvPr id="22" name="Text 20"/>
          <p:cNvSpPr/>
          <p:nvPr/>
        </p:nvSpPr>
        <p:spPr>
          <a:xfrm>
            <a:off x="1005840" y="5532120"/>
            <a:ext cx="4663440" cy="32004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Laravel  •  React  •  Javascript  •  Tailwind CSS</a:t>
            </a:r>
            <a:endParaRPr lang="en-US" sz="850" dirty="0"/>
          </a:p>
        </p:txBody>
      </p:sp>
      <p:sp>
        <p:nvSpPr>
          <p:cNvPr id="23" name="Text 21"/>
          <p:cNvSpPr/>
          <p:nvPr/>
        </p:nvSpPr>
        <p:spPr>
          <a:xfrm>
            <a:off x="1005840" y="5760720"/>
            <a:ext cx="466344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GitHub</a:t>
            </a:r>
            <a:endParaRPr lang="en-US" sz="900" dirty="0"/>
          </a:p>
        </p:txBody>
      </p:sp>
      <p:sp>
        <p:nvSpPr>
          <p:cNvPr id="24" name="Shape 22"/>
          <p:cNvSpPr/>
          <p:nvPr/>
        </p:nvSpPr>
        <p:spPr>
          <a:xfrm>
            <a:off x="6309360" y="3840480"/>
            <a:ext cx="5212080" cy="2286000"/>
          </a:xfrm>
          <a:prstGeom prst="roundRect">
            <a:avLst>
              <a:gd name="adj" fmla="val 4800"/>
            </a:avLst>
          </a:prstGeom>
          <a:solidFill>
            <a:srgbClr val="334155"/>
          </a:solidFill>
          <a:ln/>
        </p:spPr>
      </p:sp>
      <p:sp>
        <p:nvSpPr>
          <p:cNvPr id="25" name="Shape 23"/>
          <p:cNvSpPr/>
          <p:nvPr/>
        </p:nvSpPr>
        <p:spPr>
          <a:xfrm>
            <a:off x="6309360" y="3840480"/>
            <a:ext cx="5212080" cy="73152"/>
          </a:xfrm>
          <a:prstGeom prst="roundRect">
            <a:avLst/>
          </a:prstGeom>
          <a:solidFill>
            <a:srgbClr val="EC4899"/>
          </a:solidFill>
          <a:ln/>
        </p:spPr>
      </p:sp>
      <p:sp>
        <p:nvSpPr>
          <p:cNvPr id="26" name="Text 24"/>
          <p:cNvSpPr/>
          <p:nvPr/>
        </p:nvSpPr>
        <p:spPr>
          <a:xfrm>
            <a:off x="6583680" y="4023360"/>
            <a:ext cx="466344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Desa Ganten - Village Portal</a:t>
            </a:r>
            <a:endParaRPr lang="en-US" sz="1400" dirty="0"/>
          </a:p>
        </p:txBody>
      </p:sp>
      <p:sp>
        <p:nvSpPr>
          <p:cNvPr id="27" name="Text 25"/>
          <p:cNvSpPr/>
          <p:nvPr/>
        </p:nvSpPr>
        <p:spPr>
          <a:xfrm>
            <a:off x="6583680" y="4434840"/>
            <a:ext cx="4663440" cy="1005840"/>
          </a:xfrm>
          <a:prstGeom prst="rect">
            <a:avLst/>
          </a:prstGeom>
          <a:noFill/>
          <a:ln/>
        </p:spPr>
        <p:txBody>
          <a:bodyPr wrap="square" rtlCol="0" anchor="t"/>
          <a:lstStyle/>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Official village website providing information system about Desa Ganten</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Developed using PHP and Laravel Framework for reliable performance.</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Features tourism information, local news, and community services.</a:t>
            </a:r>
            <a:endParaRPr lang="en-US" sz="950" dirty="0"/>
          </a:p>
        </p:txBody>
      </p:sp>
      <p:sp>
        <p:nvSpPr>
          <p:cNvPr id="28" name="Text 26"/>
          <p:cNvSpPr/>
          <p:nvPr/>
        </p:nvSpPr>
        <p:spPr>
          <a:xfrm>
            <a:off x="6583680" y="5532120"/>
            <a:ext cx="4663440" cy="32004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PHP  •  Laravel  •  Website  •  Informasi Desa  •  Tailwind CSS</a:t>
            </a:r>
            <a:endParaRPr lang="en-US" sz="850" dirty="0"/>
          </a:p>
        </p:txBody>
      </p:sp>
      <p:sp>
        <p:nvSpPr>
          <p:cNvPr id="29" name="Text 27"/>
          <p:cNvSpPr/>
          <p:nvPr/>
        </p:nvSpPr>
        <p:spPr>
          <a:xfrm>
            <a:off x="6583680" y="5760720"/>
            <a:ext cx="466344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GitHub</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3B82F6">
              <a:alpha val="10000"/>
            </a:srgbClr>
          </a:solidFill>
          <a:ln/>
        </p:spPr>
      </p:sp>
      <p:sp>
        <p:nvSpPr>
          <p:cNvPr id="3" name="Shape 1"/>
          <p:cNvSpPr/>
          <p:nvPr/>
        </p:nvSpPr>
        <p:spPr>
          <a:xfrm>
            <a:off x="10058400" y="5029200"/>
            <a:ext cx="3200400" cy="3200400"/>
          </a:xfrm>
          <a:prstGeom prst="ellipse">
            <a:avLst/>
          </a:prstGeom>
          <a:solidFill>
            <a:srgbClr val="8B5CF6">
              <a:alpha val="10000"/>
            </a:srgbClr>
          </a:solidFill>
          <a:ln/>
        </p:spPr>
      </p:sp>
      <p:sp>
        <p:nvSpPr>
          <p:cNvPr id="4" name="Shape 2"/>
          <p:cNvSpPr/>
          <p:nvPr/>
        </p:nvSpPr>
        <p:spPr>
          <a:xfrm>
            <a:off x="0" y="0"/>
            <a:ext cx="12188952" cy="1005840"/>
          </a:xfrm>
          <a:prstGeom prst="roundRect">
            <a:avLst/>
          </a:prstGeom>
          <a:solidFill>
            <a:srgbClr val="1E293B"/>
          </a:solidFill>
          <a:ln/>
        </p:spPr>
      </p:sp>
      <p:sp>
        <p:nvSpPr>
          <p:cNvPr id="5" name="Text 3"/>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3B82F6"/>
                </a:solidFill>
                <a:latin typeface="Segoe UI" pitchFamily="34" charset="0"/>
                <a:ea typeface="Segoe UI" pitchFamily="34" charset="-122"/>
                <a:cs typeface="Segoe UI" pitchFamily="34" charset="-120"/>
              </a:rPr>
              <a:t>💻  PROJECTS (2/3)</a:t>
            </a:r>
            <a:endParaRPr lang="en-US" sz="2800" dirty="0"/>
          </a:p>
        </p:txBody>
      </p:sp>
      <p:sp>
        <p:nvSpPr>
          <p:cNvPr id="6" name="Shape 4"/>
          <p:cNvSpPr/>
          <p:nvPr/>
        </p:nvSpPr>
        <p:spPr>
          <a:xfrm>
            <a:off x="731520" y="1280160"/>
            <a:ext cx="5212080" cy="2286000"/>
          </a:xfrm>
          <a:prstGeom prst="roundRect">
            <a:avLst>
              <a:gd name="adj" fmla="val 4800"/>
            </a:avLst>
          </a:prstGeom>
          <a:solidFill>
            <a:srgbClr val="334155"/>
          </a:solidFill>
          <a:ln/>
        </p:spPr>
      </p:sp>
      <p:sp>
        <p:nvSpPr>
          <p:cNvPr id="7" name="Shape 5"/>
          <p:cNvSpPr/>
          <p:nvPr/>
        </p:nvSpPr>
        <p:spPr>
          <a:xfrm>
            <a:off x="731520" y="1280160"/>
            <a:ext cx="5212080" cy="73152"/>
          </a:xfrm>
          <a:prstGeom prst="roundRect">
            <a:avLst/>
          </a:prstGeom>
          <a:solidFill>
            <a:srgbClr val="06B6D4"/>
          </a:solidFill>
          <a:ln/>
        </p:spPr>
      </p:sp>
      <p:sp>
        <p:nvSpPr>
          <p:cNvPr id="8" name="Text 6"/>
          <p:cNvSpPr/>
          <p:nvPr/>
        </p:nvSpPr>
        <p:spPr>
          <a:xfrm>
            <a:off x="1005840" y="1463040"/>
            <a:ext cx="466344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Templatenesia - Digital Product Marketplace</a:t>
            </a:r>
            <a:endParaRPr lang="en-US" sz="1400" dirty="0"/>
          </a:p>
        </p:txBody>
      </p:sp>
      <p:sp>
        <p:nvSpPr>
          <p:cNvPr id="9" name="Text 7"/>
          <p:cNvSpPr/>
          <p:nvPr/>
        </p:nvSpPr>
        <p:spPr>
          <a:xfrm>
            <a:off x="1005840" y="1874520"/>
            <a:ext cx="4663440" cy="1005840"/>
          </a:xfrm>
          <a:prstGeom prst="rect">
            <a:avLst/>
          </a:prstGeom>
          <a:noFill/>
          <a:ln/>
        </p:spPr>
        <p:txBody>
          <a:bodyPr wrap="square" rtlCol="0" anchor="t"/>
          <a:lstStyle/>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Online marketplace for digital products such as website templates and themes.</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Developed using PHP and Laravel Framework for a scalable backend.</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Frontend designed with Alpine.js and Tailwind CSS for a modern look and feel.</a:t>
            </a:r>
            <a:endParaRPr lang="en-US" sz="950" dirty="0"/>
          </a:p>
        </p:txBody>
      </p:sp>
      <p:sp>
        <p:nvSpPr>
          <p:cNvPr id="10" name="Text 8"/>
          <p:cNvSpPr/>
          <p:nvPr/>
        </p:nvSpPr>
        <p:spPr>
          <a:xfrm>
            <a:off x="1005840" y="2971800"/>
            <a:ext cx="4663440" cy="32004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PHP  •  Laravel  •  Alpine.js  •  Tailwind CSS  •  Filament Admin</a:t>
            </a:r>
            <a:endParaRPr lang="en-US" sz="850" dirty="0"/>
          </a:p>
        </p:txBody>
      </p:sp>
      <p:sp>
        <p:nvSpPr>
          <p:cNvPr id="11" name="Text 9"/>
          <p:cNvSpPr/>
          <p:nvPr/>
        </p:nvSpPr>
        <p:spPr>
          <a:xfrm>
            <a:off x="1005840" y="3200400"/>
            <a:ext cx="466344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GitHub</a:t>
            </a:r>
            <a:endParaRPr lang="en-US" sz="900" dirty="0"/>
          </a:p>
        </p:txBody>
      </p:sp>
      <p:sp>
        <p:nvSpPr>
          <p:cNvPr id="12" name="Shape 10"/>
          <p:cNvSpPr/>
          <p:nvPr/>
        </p:nvSpPr>
        <p:spPr>
          <a:xfrm>
            <a:off x="6309360" y="1280160"/>
            <a:ext cx="5212080" cy="2286000"/>
          </a:xfrm>
          <a:prstGeom prst="roundRect">
            <a:avLst>
              <a:gd name="adj" fmla="val 4800"/>
            </a:avLst>
          </a:prstGeom>
          <a:solidFill>
            <a:srgbClr val="334155"/>
          </a:solidFill>
          <a:ln/>
        </p:spPr>
      </p:sp>
      <p:sp>
        <p:nvSpPr>
          <p:cNvPr id="13" name="Shape 11"/>
          <p:cNvSpPr/>
          <p:nvPr/>
        </p:nvSpPr>
        <p:spPr>
          <a:xfrm>
            <a:off x="6309360" y="1280160"/>
            <a:ext cx="5212080" cy="73152"/>
          </a:xfrm>
          <a:prstGeom prst="roundRect">
            <a:avLst/>
          </a:prstGeom>
          <a:solidFill>
            <a:srgbClr val="8B5CF6"/>
          </a:solidFill>
          <a:ln/>
        </p:spPr>
      </p:sp>
      <p:sp>
        <p:nvSpPr>
          <p:cNvPr id="14" name="Text 12"/>
          <p:cNvSpPr/>
          <p:nvPr/>
        </p:nvSpPr>
        <p:spPr>
          <a:xfrm>
            <a:off x="6583680" y="1463040"/>
            <a:ext cx="466344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SD IT Semesta Cendekia School Portal</a:t>
            </a:r>
            <a:endParaRPr lang="en-US" sz="1400" dirty="0"/>
          </a:p>
        </p:txBody>
      </p:sp>
      <p:sp>
        <p:nvSpPr>
          <p:cNvPr id="15" name="Text 13"/>
          <p:cNvSpPr/>
          <p:nvPr/>
        </p:nvSpPr>
        <p:spPr>
          <a:xfrm>
            <a:off x="6583680" y="1874520"/>
            <a:ext cx="4663440" cy="1005840"/>
          </a:xfrm>
          <a:prstGeom prst="rect">
            <a:avLst/>
          </a:prstGeom>
          <a:noFill/>
          <a:ln/>
        </p:spPr>
        <p:txBody>
          <a:bodyPr wrap="square" rtlCol="0" anchor="t"/>
          <a:lstStyle/>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School portal based on Website for SD IT Semesta Cendekia..</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Built with PHP and Laravel Framework for robust backend.</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Interactive frontend using Alpine.js and styled with Tailwind CSS.</a:t>
            </a:r>
            <a:endParaRPr lang="en-US" sz="950" dirty="0"/>
          </a:p>
        </p:txBody>
      </p:sp>
      <p:sp>
        <p:nvSpPr>
          <p:cNvPr id="16" name="Text 14"/>
          <p:cNvSpPr/>
          <p:nvPr/>
        </p:nvSpPr>
        <p:spPr>
          <a:xfrm>
            <a:off x="6583680" y="2971800"/>
            <a:ext cx="4663440" cy="32004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PHP  •  Laravel  •  Alpine.js  •  Tailwind CSS  •  Website  •  School Portal</a:t>
            </a:r>
            <a:endParaRPr lang="en-US" sz="850" dirty="0"/>
          </a:p>
        </p:txBody>
      </p:sp>
      <p:sp>
        <p:nvSpPr>
          <p:cNvPr id="17" name="Text 15"/>
          <p:cNvSpPr/>
          <p:nvPr/>
        </p:nvSpPr>
        <p:spPr>
          <a:xfrm>
            <a:off x="6583680" y="3200400"/>
            <a:ext cx="466344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GitHub</a:t>
            </a:r>
            <a:endParaRPr lang="en-US" sz="900" dirty="0"/>
          </a:p>
        </p:txBody>
      </p:sp>
      <p:sp>
        <p:nvSpPr>
          <p:cNvPr id="18" name="Shape 16"/>
          <p:cNvSpPr/>
          <p:nvPr/>
        </p:nvSpPr>
        <p:spPr>
          <a:xfrm>
            <a:off x="731520" y="3840480"/>
            <a:ext cx="5212080" cy="2286000"/>
          </a:xfrm>
          <a:prstGeom prst="roundRect">
            <a:avLst>
              <a:gd name="adj" fmla="val 4800"/>
            </a:avLst>
          </a:prstGeom>
          <a:solidFill>
            <a:srgbClr val="334155"/>
          </a:solidFill>
          <a:ln/>
        </p:spPr>
      </p:sp>
      <p:sp>
        <p:nvSpPr>
          <p:cNvPr id="19" name="Shape 17"/>
          <p:cNvSpPr/>
          <p:nvPr/>
        </p:nvSpPr>
        <p:spPr>
          <a:xfrm>
            <a:off x="731520" y="3840480"/>
            <a:ext cx="5212080" cy="73152"/>
          </a:xfrm>
          <a:prstGeom prst="roundRect">
            <a:avLst/>
          </a:prstGeom>
          <a:solidFill>
            <a:srgbClr val="3B82F6"/>
          </a:solidFill>
          <a:ln/>
        </p:spPr>
      </p:sp>
      <p:sp>
        <p:nvSpPr>
          <p:cNvPr id="20" name="Text 18"/>
          <p:cNvSpPr/>
          <p:nvPr/>
        </p:nvSpPr>
        <p:spPr>
          <a:xfrm>
            <a:off x="1005840" y="4023360"/>
            <a:ext cx="466344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Diabetes Disease Prediction - Machine Learning</a:t>
            </a:r>
            <a:endParaRPr lang="en-US" sz="1400" dirty="0"/>
          </a:p>
        </p:txBody>
      </p:sp>
      <p:sp>
        <p:nvSpPr>
          <p:cNvPr id="21" name="Text 19"/>
          <p:cNvSpPr/>
          <p:nvPr/>
        </p:nvSpPr>
        <p:spPr>
          <a:xfrm>
            <a:off x="1005840" y="4434840"/>
            <a:ext cx="4663440" cy="1005840"/>
          </a:xfrm>
          <a:prstGeom prst="rect">
            <a:avLst/>
          </a:prstGeom>
          <a:noFill/>
          <a:ln/>
        </p:spPr>
        <p:txBody>
          <a:bodyPr wrap="square" rtlCol="0" anchor="t"/>
          <a:lstStyle/>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Predictive analytics application for diabetes disease based on patient medical history.</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Implemented using Decision Tree algorithm with Python and Streamlit.</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Data processing with Pandas and Numpy libraries.</a:t>
            </a:r>
            <a:endParaRPr lang="en-US" sz="950" dirty="0"/>
          </a:p>
        </p:txBody>
      </p:sp>
      <p:sp>
        <p:nvSpPr>
          <p:cNvPr id="22" name="Text 20"/>
          <p:cNvSpPr/>
          <p:nvPr/>
        </p:nvSpPr>
        <p:spPr>
          <a:xfrm>
            <a:off x="1005840" y="5532120"/>
            <a:ext cx="4663440" cy="32004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Python  •  Streamlit  •  Pandas  •  Numpy  •  Matplotlib  •  Seaborn</a:t>
            </a:r>
            <a:endParaRPr lang="en-US" sz="850" dirty="0"/>
          </a:p>
        </p:txBody>
      </p:sp>
      <p:sp>
        <p:nvSpPr>
          <p:cNvPr id="23" name="Text 21"/>
          <p:cNvSpPr/>
          <p:nvPr/>
        </p:nvSpPr>
        <p:spPr>
          <a:xfrm>
            <a:off x="1005840" y="5760720"/>
            <a:ext cx="466344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GitHub</a:t>
            </a:r>
            <a:endParaRPr lang="en-US" sz="900" dirty="0"/>
          </a:p>
        </p:txBody>
      </p:sp>
      <p:sp>
        <p:nvSpPr>
          <p:cNvPr id="24" name="Shape 22"/>
          <p:cNvSpPr/>
          <p:nvPr/>
        </p:nvSpPr>
        <p:spPr>
          <a:xfrm>
            <a:off x="6309360" y="3840480"/>
            <a:ext cx="5212080" cy="2286000"/>
          </a:xfrm>
          <a:prstGeom prst="roundRect">
            <a:avLst>
              <a:gd name="adj" fmla="val 4800"/>
            </a:avLst>
          </a:prstGeom>
          <a:solidFill>
            <a:srgbClr val="334155"/>
          </a:solidFill>
          <a:ln/>
        </p:spPr>
      </p:sp>
      <p:sp>
        <p:nvSpPr>
          <p:cNvPr id="25" name="Shape 23"/>
          <p:cNvSpPr/>
          <p:nvPr/>
        </p:nvSpPr>
        <p:spPr>
          <a:xfrm>
            <a:off x="6309360" y="3840480"/>
            <a:ext cx="5212080" cy="73152"/>
          </a:xfrm>
          <a:prstGeom prst="roundRect">
            <a:avLst/>
          </a:prstGeom>
          <a:solidFill>
            <a:srgbClr val="10B981"/>
          </a:solidFill>
          <a:ln/>
        </p:spPr>
      </p:sp>
      <p:sp>
        <p:nvSpPr>
          <p:cNvPr id="26" name="Text 24"/>
          <p:cNvSpPr/>
          <p:nvPr/>
        </p:nvSpPr>
        <p:spPr>
          <a:xfrm>
            <a:off x="6583680" y="4023360"/>
            <a:ext cx="466344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Oje ATV - Offroad Adventure Rental</a:t>
            </a:r>
            <a:endParaRPr lang="en-US" sz="1400" dirty="0"/>
          </a:p>
        </p:txBody>
      </p:sp>
      <p:sp>
        <p:nvSpPr>
          <p:cNvPr id="27" name="Text 25"/>
          <p:cNvSpPr/>
          <p:nvPr/>
        </p:nvSpPr>
        <p:spPr>
          <a:xfrm>
            <a:off x="6583680" y="4434840"/>
            <a:ext cx="4663440" cy="1005840"/>
          </a:xfrm>
          <a:prstGeom prst="rect">
            <a:avLst/>
          </a:prstGeom>
          <a:noFill/>
          <a:ln/>
        </p:spPr>
        <p:txBody>
          <a:bodyPr wrap="square" rtlCol="0" anchor="t"/>
          <a:lstStyle/>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Business website for ATV rental services specializing in offroad adventures.</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Built with WordPress for easy content management.</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Responsive design created with Elementor page builder.</a:t>
            </a:r>
            <a:endParaRPr lang="en-US" sz="950" dirty="0"/>
          </a:p>
        </p:txBody>
      </p:sp>
      <p:sp>
        <p:nvSpPr>
          <p:cNvPr id="28" name="Text 26"/>
          <p:cNvSpPr/>
          <p:nvPr/>
        </p:nvSpPr>
        <p:spPr>
          <a:xfrm>
            <a:off x="6583680" y="5532120"/>
            <a:ext cx="4663440" cy="32004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Wordpress  •  Elementor</a:t>
            </a:r>
            <a:endParaRPr lang="en-US" sz="850" dirty="0"/>
          </a:p>
        </p:txBody>
      </p:sp>
      <p:sp>
        <p:nvSpPr>
          <p:cNvPr id="29" name="Text 27"/>
          <p:cNvSpPr/>
          <p:nvPr/>
        </p:nvSpPr>
        <p:spPr>
          <a:xfrm>
            <a:off x="6583680" y="5760720"/>
            <a:ext cx="466344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GitHub   🔗 Live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3B82F6">
              <a:alpha val="10000"/>
            </a:srgbClr>
          </a:solidFill>
          <a:ln/>
        </p:spPr>
      </p:sp>
      <p:sp>
        <p:nvSpPr>
          <p:cNvPr id="3" name="Shape 1"/>
          <p:cNvSpPr/>
          <p:nvPr/>
        </p:nvSpPr>
        <p:spPr>
          <a:xfrm>
            <a:off x="10058400" y="5029200"/>
            <a:ext cx="3200400" cy="3200400"/>
          </a:xfrm>
          <a:prstGeom prst="ellipse">
            <a:avLst/>
          </a:prstGeom>
          <a:solidFill>
            <a:srgbClr val="8B5CF6">
              <a:alpha val="10000"/>
            </a:srgbClr>
          </a:solidFill>
          <a:ln/>
        </p:spPr>
      </p:sp>
      <p:sp>
        <p:nvSpPr>
          <p:cNvPr id="4" name="Shape 2"/>
          <p:cNvSpPr/>
          <p:nvPr/>
        </p:nvSpPr>
        <p:spPr>
          <a:xfrm>
            <a:off x="0" y="0"/>
            <a:ext cx="12188952" cy="1005840"/>
          </a:xfrm>
          <a:prstGeom prst="roundRect">
            <a:avLst/>
          </a:prstGeom>
          <a:solidFill>
            <a:srgbClr val="1E293B"/>
          </a:solidFill>
          <a:ln/>
        </p:spPr>
      </p:sp>
      <p:sp>
        <p:nvSpPr>
          <p:cNvPr id="5" name="Text 3"/>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3B82F6"/>
                </a:solidFill>
                <a:latin typeface="Segoe UI" pitchFamily="34" charset="0"/>
                <a:ea typeface="Segoe UI" pitchFamily="34" charset="-122"/>
                <a:cs typeface="Segoe UI" pitchFamily="34" charset="-120"/>
              </a:rPr>
              <a:t>💻  PROJECTS (3/3)</a:t>
            </a:r>
            <a:endParaRPr lang="en-US" sz="2800" dirty="0"/>
          </a:p>
        </p:txBody>
      </p:sp>
      <p:sp>
        <p:nvSpPr>
          <p:cNvPr id="6" name="Shape 4"/>
          <p:cNvSpPr/>
          <p:nvPr/>
        </p:nvSpPr>
        <p:spPr>
          <a:xfrm>
            <a:off x="731520" y="1280160"/>
            <a:ext cx="5212080" cy="2286000"/>
          </a:xfrm>
          <a:prstGeom prst="roundRect">
            <a:avLst>
              <a:gd name="adj" fmla="val 4800"/>
            </a:avLst>
          </a:prstGeom>
          <a:solidFill>
            <a:srgbClr val="334155"/>
          </a:solidFill>
          <a:ln/>
        </p:spPr>
      </p:sp>
      <p:sp>
        <p:nvSpPr>
          <p:cNvPr id="7" name="Shape 5"/>
          <p:cNvSpPr/>
          <p:nvPr/>
        </p:nvSpPr>
        <p:spPr>
          <a:xfrm>
            <a:off x="731520" y="1280160"/>
            <a:ext cx="5212080" cy="73152"/>
          </a:xfrm>
          <a:prstGeom prst="roundRect">
            <a:avLst/>
          </a:prstGeom>
          <a:solidFill>
            <a:srgbClr val="F59E0B"/>
          </a:solidFill>
          <a:ln/>
        </p:spPr>
      </p:sp>
      <p:sp>
        <p:nvSpPr>
          <p:cNvPr id="8" name="Text 6"/>
          <p:cNvSpPr/>
          <p:nvPr/>
        </p:nvSpPr>
        <p:spPr>
          <a:xfrm>
            <a:off x="1005840" y="1463040"/>
            <a:ext cx="466344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Employee Attendance System</a:t>
            </a:r>
            <a:endParaRPr lang="en-US" sz="1400" dirty="0"/>
          </a:p>
        </p:txBody>
      </p:sp>
      <p:sp>
        <p:nvSpPr>
          <p:cNvPr id="9" name="Text 7"/>
          <p:cNvSpPr/>
          <p:nvPr/>
        </p:nvSpPr>
        <p:spPr>
          <a:xfrm>
            <a:off x="1005840" y="1874520"/>
            <a:ext cx="4663440" cy="1005840"/>
          </a:xfrm>
          <a:prstGeom prst="rect">
            <a:avLst/>
          </a:prstGeom>
          <a:noFill/>
          <a:ln/>
        </p:spPr>
        <p:txBody>
          <a:bodyPr wrap="square" rtlCol="0" anchor="t"/>
          <a:lstStyle/>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Web-based Employee Attendance Management System for internship programs.</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Built with PHP, CSS, JavaScript using Laravel Framework with Livewire, Vite, and Tailwind CSS.</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Advanced GPS-based location detection feature.</a:t>
            </a:r>
            <a:endParaRPr lang="en-US" sz="950" dirty="0"/>
          </a:p>
        </p:txBody>
      </p:sp>
      <p:sp>
        <p:nvSpPr>
          <p:cNvPr id="10" name="Text 8"/>
          <p:cNvSpPr/>
          <p:nvPr/>
        </p:nvSpPr>
        <p:spPr>
          <a:xfrm>
            <a:off x="1005840" y="2971800"/>
            <a:ext cx="4663440" cy="32004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PHP  •  Laravel  •  Livewire  •  Vite  •  Tailwind CSS</a:t>
            </a:r>
            <a:endParaRPr lang="en-US" sz="850" dirty="0"/>
          </a:p>
        </p:txBody>
      </p:sp>
      <p:sp>
        <p:nvSpPr>
          <p:cNvPr id="11" name="Text 9"/>
          <p:cNvSpPr/>
          <p:nvPr/>
        </p:nvSpPr>
        <p:spPr>
          <a:xfrm>
            <a:off x="1005840" y="3200400"/>
            <a:ext cx="466344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GitHub</a:t>
            </a:r>
            <a:endParaRPr lang="en-US" sz="900" dirty="0"/>
          </a:p>
        </p:txBody>
      </p:sp>
      <p:sp>
        <p:nvSpPr>
          <p:cNvPr id="12" name="Shape 10"/>
          <p:cNvSpPr/>
          <p:nvPr/>
        </p:nvSpPr>
        <p:spPr>
          <a:xfrm>
            <a:off x="6309360" y="1280160"/>
            <a:ext cx="5212080" cy="2286000"/>
          </a:xfrm>
          <a:prstGeom prst="roundRect">
            <a:avLst>
              <a:gd name="adj" fmla="val 4800"/>
            </a:avLst>
          </a:prstGeom>
          <a:solidFill>
            <a:srgbClr val="334155"/>
          </a:solidFill>
          <a:ln/>
        </p:spPr>
      </p:sp>
      <p:sp>
        <p:nvSpPr>
          <p:cNvPr id="13" name="Shape 11"/>
          <p:cNvSpPr/>
          <p:nvPr/>
        </p:nvSpPr>
        <p:spPr>
          <a:xfrm>
            <a:off x="6309360" y="1280160"/>
            <a:ext cx="5212080" cy="73152"/>
          </a:xfrm>
          <a:prstGeom prst="roundRect">
            <a:avLst/>
          </a:prstGeom>
          <a:solidFill>
            <a:srgbClr val="EC4899"/>
          </a:solidFill>
          <a:ln/>
        </p:spPr>
      </p:sp>
      <p:sp>
        <p:nvSpPr>
          <p:cNvPr id="14" name="Text 12"/>
          <p:cNvSpPr/>
          <p:nvPr/>
        </p:nvSpPr>
        <p:spPr>
          <a:xfrm>
            <a:off x="6583680" y="1463040"/>
            <a:ext cx="466344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Sikl App - Local Shoe Sales</a:t>
            </a:r>
            <a:endParaRPr lang="en-US" sz="1400" dirty="0"/>
          </a:p>
        </p:txBody>
      </p:sp>
      <p:sp>
        <p:nvSpPr>
          <p:cNvPr id="15" name="Text 13"/>
          <p:cNvSpPr/>
          <p:nvPr/>
        </p:nvSpPr>
        <p:spPr>
          <a:xfrm>
            <a:off x="6583680" y="1874520"/>
            <a:ext cx="4663440" cy="1005840"/>
          </a:xfrm>
          <a:prstGeom prst="rect">
            <a:avLst/>
          </a:prstGeom>
          <a:noFill/>
          <a:ln/>
        </p:spPr>
        <p:txBody>
          <a:bodyPr wrap="square" rtlCol="0" anchor="t"/>
          <a:lstStyle/>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Mobile application for local shoe sales and management.</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Built with Kotlin and Android Studio for optimal performance.</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User-friendly interface for seamless shopping experience.</a:t>
            </a:r>
            <a:endParaRPr lang="en-US" sz="950" dirty="0"/>
          </a:p>
        </p:txBody>
      </p:sp>
      <p:sp>
        <p:nvSpPr>
          <p:cNvPr id="16" name="Text 14"/>
          <p:cNvSpPr/>
          <p:nvPr/>
        </p:nvSpPr>
        <p:spPr>
          <a:xfrm>
            <a:off x="6583680" y="2971800"/>
            <a:ext cx="4663440" cy="32004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Kotlin  •  Android  •  Android Studio</a:t>
            </a:r>
            <a:endParaRPr lang="en-US" sz="850" dirty="0"/>
          </a:p>
        </p:txBody>
      </p:sp>
      <p:sp>
        <p:nvSpPr>
          <p:cNvPr id="17" name="Text 15"/>
          <p:cNvSpPr/>
          <p:nvPr/>
        </p:nvSpPr>
        <p:spPr>
          <a:xfrm>
            <a:off x="6583680" y="3200400"/>
            <a:ext cx="466344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GitHub</a:t>
            </a:r>
            <a:endParaRPr lang="en-US" sz="900" dirty="0"/>
          </a:p>
        </p:txBody>
      </p:sp>
      <p:sp>
        <p:nvSpPr>
          <p:cNvPr id="18" name="Shape 16"/>
          <p:cNvSpPr/>
          <p:nvPr/>
        </p:nvSpPr>
        <p:spPr>
          <a:xfrm>
            <a:off x="731520" y="3840480"/>
            <a:ext cx="5212080" cy="2286000"/>
          </a:xfrm>
          <a:prstGeom prst="roundRect">
            <a:avLst>
              <a:gd name="adj" fmla="val 4800"/>
            </a:avLst>
          </a:prstGeom>
          <a:solidFill>
            <a:srgbClr val="334155"/>
          </a:solidFill>
          <a:ln/>
        </p:spPr>
      </p:sp>
      <p:sp>
        <p:nvSpPr>
          <p:cNvPr id="19" name="Shape 17"/>
          <p:cNvSpPr/>
          <p:nvPr/>
        </p:nvSpPr>
        <p:spPr>
          <a:xfrm>
            <a:off x="731520" y="3840480"/>
            <a:ext cx="5212080" cy="73152"/>
          </a:xfrm>
          <a:prstGeom prst="roundRect">
            <a:avLst/>
          </a:prstGeom>
          <a:solidFill>
            <a:srgbClr val="06B6D4"/>
          </a:solidFill>
          <a:ln/>
        </p:spPr>
      </p:sp>
      <p:sp>
        <p:nvSpPr>
          <p:cNvPr id="20" name="Text 18"/>
          <p:cNvSpPr/>
          <p:nvPr/>
        </p:nvSpPr>
        <p:spPr>
          <a:xfrm>
            <a:off x="1005840" y="4023360"/>
            <a:ext cx="466344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Kasirku - Point of Sales</a:t>
            </a:r>
            <a:endParaRPr lang="en-US" sz="1400" dirty="0"/>
          </a:p>
        </p:txBody>
      </p:sp>
      <p:sp>
        <p:nvSpPr>
          <p:cNvPr id="21" name="Text 19"/>
          <p:cNvSpPr/>
          <p:nvPr/>
        </p:nvSpPr>
        <p:spPr>
          <a:xfrm>
            <a:off x="1005840" y="4434840"/>
            <a:ext cx="4663440" cy="1005840"/>
          </a:xfrm>
          <a:prstGeom prst="rect">
            <a:avLst/>
          </a:prstGeom>
          <a:noFill/>
          <a:ln/>
        </p:spPr>
        <p:txBody>
          <a:bodyPr wrap="square" rtlCol="0" anchor="t"/>
          <a:lstStyle/>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An Point of Sales built using CodeIgniter framework.</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Modern UI designed with Bootstrap.</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Secure payment gateway integration with Midtrans.</a:t>
            </a:r>
            <a:endParaRPr lang="en-US" sz="950" dirty="0"/>
          </a:p>
        </p:txBody>
      </p:sp>
      <p:sp>
        <p:nvSpPr>
          <p:cNvPr id="22" name="Text 20"/>
          <p:cNvSpPr/>
          <p:nvPr/>
        </p:nvSpPr>
        <p:spPr>
          <a:xfrm>
            <a:off x="1005840" y="5532120"/>
            <a:ext cx="4663440" cy="32004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PHP  •  Codeigniter  •  Bootstrap  •  Midtrans</a:t>
            </a:r>
            <a:endParaRPr lang="en-US" sz="850" dirty="0"/>
          </a:p>
        </p:txBody>
      </p:sp>
      <p:sp>
        <p:nvSpPr>
          <p:cNvPr id="23" name="Text 21"/>
          <p:cNvSpPr/>
          <p:nvPr/>
        </p:nvSpPr>
        <p:spPr>
          <a:xfrm>
            <a:off x="1005840" y="5760720"/>
            <a:ext cx="466344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GitHub</a:t>
            </a:r>
            <a:endParaRPr lang="en-US" sz="900" dirty="0"/>
          </a:p>
        </p:txBody>
      </p:sp>
      <p:sp>
        <p:nvSpPr>
          <p:cNvPr id="24" name="Shape 22"/>
          <p:cNvSpPr/>
          <p:nvPr/>
        </p:nvSpPr>
        <p:spPr>
          <a:xfrm>
            <a:off x="6309360" y="3840480"/>
            <a:ext cx="5212080" cy="2286000"/>
          </a:xfrm>
          <a:prstGeom prst="roundRect">
            <a:avLst>
              <a:gd name="adj" fmla="val 4800"/>
            </a:avLst>
          </a:prstGeom>
          <a:solidFill>
            <a:srgbClr val="334155"/>
          </a:solidFill>
          <a:ln/>
        </p:spPr>
      </p:sp>
      <p:sp>
        <p:nvSpPr>
          <p:cNvPr id="25" name="Shape 23"/>
          <p:cNvSpPr/>
          <p:nvPr/>
        </p:nvSpPr>
        <p:spPr>
          <a:xfrm>
            <a:off x="6309360" y="3840480"/>
            <a:ext cx="5212080" cy="73152"/>
          </a:xfrm>
          <a:prstGeom prst="roundRect">
            <a:avLst/>
          </a:prstGeom>
          <a:solidFill>
            <a:srgbClr val="8B5CF6"/>
          </a:solidFill>
          <a:ln/>
        </p:spPr>
      </p:sp>
      <p:sp>
        <p:nvSpPr>
          <p:cNvPr id="26" name="Text 24"/>
          <p:cNvSpPr/>
          <p:nvPr/>
        </p:nvSpPr>
        <p:spPr>
          <a:xfrm>
            <a:off x="6583680" y="4023360"/>
            <a:ext cx="466344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My Portfolio</a:t>
            </a:r>
            <a:endParaRPr lang="en-US" sz="1400" dirty="0"/>
          </a:p>
        </p:txBody>
      </p:sp>
      <p:sp>
        <p:nvSpPr>
          <p:cNvPr id="27" name="Text 25"/>
          <p:cNvSpPr/>
          <p:nvPr/>
        </p:nvSpPr>
        <p:spPr>
          <a:xfrm>
            <a:off x="6583680" y="4434840"/>
            <a:ext cx="4663440" cy="1005840"/>
          </a:xfrm>
          <a:prstGeom prst="rect">
            <a:avLst/>
          </a:prstGeom>
          <a:noFill/>
          <a:ln/>
        </p:spPr>
        <p:txBody>
          <a:bodyPr wrap="square" rtlCol="0" anchor="t"/>
          <a:lstStyle/>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Developer Portfolio Website made in React</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Fully customizable and dynamic, easily change data and images.</a:t>
            </a:r>
            <a:endParaRPr lang="en-US" sz="950" dirty="0"/>
          </a:p>
          <a:p>
            <a:pPr indent="0" marL="0">
              <a:lnSpc>
                <a:spcPct val="125000"/>
              </a:lnSpc>
              <a:buNone/>
            </a:pPr>
            <a:r>
              <a:rPr lang="en-US" sz="950" dirty="0">
                <a:solidFill>
                  <a:srgbClr val="F8FAFC"/>
                </a:solidFill>
                <a:latin typeface="Segoe UI" pitchFamily="34" charset="0"/>
                <a:ea typeface="Segoe UI" pitchFamily="34" charset="-122"/>
                <a:cs typeface="Segoe UI" pitchFamily="34" charset="-120"/>
              </a:rPr>
              <a:t>• Dark Mode Support</a:t>
            </a:r>
            <a:endParaRPr lang="en-US" sz="950" dirty="0"/>
          </a:p>
        </p:txBody>
      </p:sp>
      <p:sp>
        <p:nvSpPr>
          <p:cNvPr id="28" name="Text 26"/>
          <p:cNvSpPr/>
          <p:nvPr/>
        </p:nvSpPr>
        <p:spPr>
          <a:xfrm>
            <a:off x="6583680" y="5532120"/>
            <a:ext cx="4663440" cy="320040"/>
          </a:xfrm>
          <a:prstGeom prst="rect">
            <a:avLst/>
          </a:prstGeom>
          <a:noFill/>
          <a:ln/>
        </p:spPr>
        <p:txBody>
          <a:bodyPr wrap="square" rtlCol="0" anchor="ctr"/>
          <a:lstStyle/>
          <a:p>
            <a:pPr indent="0" marL="0">
              <a:buNone/>
            </a:pPr>
            <a:r>
              <a:rPr lang="en-US" sz="850" b="1" dirty="0">
                <a:solidFill>
                  <a:srgbClr val="3B82F6"/>
                </a:solidFill>
                <a:latin typeface="Segoe UI" pitchFamily="34" charset="0"/>
                <a:ea typeface="Segoe UI" pitchFamily="34" charset="-122"/>
                <a:cs typeface="Segoe UI" pitchFamily="34" charset="-120"/>
              </a:rPr>
              <a:t>React  •  Portfolio  •  JavaScript</a:t>
            </a:r>
            <a:endParaRPr lang="en-US" sz="850" dirty="0"/>
          </a:p>
        </p:txBody>
      </p:sp>
      <p:sp>
        <p:nvSpPr>
          <p:cNvPr id="29" name="Text 27"/>
          <p:cNvSpPr/>
          <p:nvPr/>
        </p:nvSpPr>
        <p:spPr>
          <a:xfrm>
            <a:off x="6583680" y="5760720"/>
            <a:ext cx="4663440" cy="27432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 GitHub   🔗 Live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3B82F6">
              <a:alpha val="10000"/>
            </a:srgbClr>
          </a:solidFill>
          <a:ln/>
        </p:spPr>
      </p:sp>
      <p:sp>
        <p:nvSpPr>
          <p:cNvPr id="3" name="Shape 1"/>
          <p:cNvSpPr/>
          <p:nvPr/>
        </p:nvSpPr>
        <p:spPr>
          <a:xfrm>
            <a:off x="10058400" y="5029200"/>
            <a:ext cx="3200400" cy="3200400"/>
          </a:xfrm>
          <a:prstGeom prst="ellipse">
            <a:avLst/>
          </a:prstGeom>
          <a:solidFill>
            <a:srgbClr val="8B5CF6">
              <a:alpha val="10000"/>
            </a:srgbClr>
          </a:solidFill>
          <a:ln/>
        </p:spPr>
      </p:sp>
      <p:sp>
        <p:nvSpPr>
          <p:cNvPr id="4" name="Shape 2"/>
          <p:cNvSpPr/>
          <p:nvPr/>
        </p:nvSpPr>
        <p:spPr>
          <a:xfrm>
            <a:off x="0" y="3200400"/>
            <a:ext cx="12188952" cy="36576"/>
          </a:xfrm>
          <a:prstGeom prst="rect">
            <a:avLst/>
          </a:prstGeom>
          <a:solidFill>
            <a:srgbClr val="3B82F6"/>
          </a:solidFill>
          <a:ln/>
        </p:spPr>
      </p:sp>
      <p:sp>
        <p:nvSpPr>
          <p:cNvPr id="5" name="Text 3"/>
          <p:cNvSpPr/>
          <p:nvPr/>
        </p:nvSpPr>
        <p:spPr>
          <a:xfrm>
            <a:off x="0" y="1645920"/>
            <a:ext cx="12188952" cy="1097280"/>
          </a:xfrm>
          <a:prstGeom prst="rect">
            <a:avLst/>
          </a:prstGeom>
          <a:noFill/>
          <a:ln/>
        </p:spPr>
        <p:txBody>
          <a:bodyPr wrap="square" rtlCol="0" anchor="ctr"/>
          <a:lstStyle/>
          <a:p>
            <a:pPr algn="ctr" indent="0" marL="0">
              <a:buNone/>
            </a:pPr>
            <a:r>
              <a:rPr lang="en-US" sz="4800" b="1" dirty="0">
                <a:solidFill>
                  <a:srgbClr val="FFFFFF"/>
                </a:solidFill>
                <a:latin typeface="Segoe UI" pitchFamily="34" charset="0"/>
                <a:ea typeface="Segoe UI" pitchFamily="34" charset="-122"/>
                <a:cs typeface="Segoe UI" pitchFamily="34" charset="-120"/>
              </a:rPr>
              <a:t>THANK YOU</a:t>
            </a:r>
            <a:endParaRPr lang="en-US" sz="4800" dirty="0"/>
          </a:p>
        </p:txBody>
      </p:sp>
      <p:sp>
        <p:nvSpPr>
          <p:cNvPr id="6" name="Text 4"/>
          <p:cNvSpPr/>
          <p:nvPr/>
        </p:nvSpPr>
        <p:spPr>
          <a:xfrm>
            <a:off x="0" y="2651760"/>
            <a:ext cx="12188952" cy="548640"/>
          </a:xfrm>
          <a:prstGeom prst="rect">
            <a:avLst/>
          </a:prstGeom>
          <a:noFill/>
          <a:ln/>
        </p:spPr>
        <p:txBody>
          <a:bodyPr wrap="square" rtlCol="0" anchor="ctr"/>
          <a:lstStyle/>
          <a:p>
            <a:pPr algn="ctr" indent="0" marL="0">
              <a:buNone/>
            </a:pPr>
            <a:r>
              <a:rPr lang="en-US" sz="2000" dirty="0">
                <a:solidFill>
                  <a:srgbClr val="94A3B8"/>
                </a:solidFill>
                <a:latin typeface="Segoe UI" pitchFamily="34" charset="0"/>
                <a:ea typeface="Segoe UI" pitchFamily="34" charset="-122"/>
                <a:cs typeface="Segoe UI" pitchFamily="34" charset="-120"/>
              </a:rPr>
              <a:t>Let's Connect!</a:t>
            </a:r>
            <a:endParaRPr lang="en-US" sz="2000" dirty="0"/>
          </a:p>
        </p:txBody>
      </p:sp>
      <p:sp>
        <p:nvSpPr>
          <p:cNvPr id="7" name="Text 5"/>
          <p:cNvSpPr/>
          <p:nvPr/>
        </p:nvSpPr>
        <p:spPr>
          <a:xfrm>
            <a:off x="2743200" y="3657600"/>
            <a:ext cx="6702552" cy="1828800"/>
          </a:xfrm>
          <a:prstGeom prst="rect">
            <a:avLst/>
          </a:prstGeom>
          <a:noFill/>
          <a:ln/>
        </p:spPr>
        <p:txBody>
          <a:bodyPr wrap="square" rtlCol="0" anchor="ctr"/>
          <a:lstStyle/>
          <a:p>
            <a:pPr algn="ctr" indent="0" marL="0">
              <a:lnSpc>
                <a:spcPct val="180000"/>
              </a:lnSpc>
              <a:buNone/>
            </a:pPr>
            <a:r>
              <a:rPr lang="en-US" sz="1400" dirty="0">
                <a:solidFill>
                  <a:srgbClr val="F8FAFC"/>
                </a:solidFill>
                <a:latin typeface="Segoe UI" pitchFamily="34" charset="0"/>
                <a:ea typeface="Segoe UI" pitchFamily="34" charset="-122"/>
                <a:cs typeface="Segoe UI" pitchFamily="34" charset="-120"/>
              </a:rPr>
              <a:t>📧 rigeldonovan@gmail.com</a:t>
            </a:r>
            <a:endParaRPr lang="en-US" sz="1400" dirty="0"/>
          </a:p>
          <a:p>
            <a:pPr algn="ctr" indent="0" marL="0">
              <a:lnSpc>
                <a:spcPct val="180000"/>
              </a:lnSpc>
              <a:buNone/>
            </a:pPr>
            <a:r>
              <a:rPr lang="en-US" sz="1400" dirty="0">
                <a:solidFill>
                  <a:srgbClr val="F8FAFC"/>
                </a:solidFill>
                <a:latin typeface="Segoe UI" pitchFamily="34" charset="0"/>
                <a:ea typeface="Segoe UI" pitchFamily="34" charset="-122"/>
                <a:cs typeface="Segoe UI" pitchFamily="34" charset="-120"/>
              </a:rPr>
              <a:t>📱 +6285604450227</a:t>
            </a:r>
            <a:endParaRPr lang="en-US" sz="1400" dirty="0"/>
          </a:p>
          <a:p>
            <a:pPr algn="ctr" indent="0" marL="0">
              <a:lnSpc>
                <a:spcPct val="180000"/>
              </a:lnSpc>
              <a:buNone/>
            </a:pPr>
            <a:r>
              <a:rPr lang="en-US" sz="1400" dirty="0">
                <a:solidFill>
                  <a:srgbClr val="F8FAFC"/>
                </a:solidFill>
                <a:latin typeface="Segoe UI" pitchFamily="34" charset="0"/>
                <a:ea typeface="Segoe UI" pitchFamily="34" charset="-122"/>
                <a:cs typeface="Segoe UI" pitchFamily="34" charset="-120"/>
              </a:rPr>
              <a:t>🔗 linkedin.com/in/rigel-donovan</a:t>
            </a:r>
            <a:endParaRPr lang="en-US" sz="1400" dirty="0"/>
          </a:p>
          <a:p>
            <a:pPr algn="ctr" indent="0" marL="0">
              <a:lnSpc>
                <a:spcPct val="180000"/>
              </a:lnSpc>
              <a:buNone/>
            </a:pPr>
            <a:r>
              <a:rPr lang="en-US" sz="1400" dirty="0">
                <a:solidFill>
                  <a:srgbClr val="F8FAFC"/>
                </a:solidFill>
                <a:latin typeface="Segoe UI" pitchFamily="34" charset="0"/>
                <a:ea typeface="Segoe UI" pitchFamily="34" charset="-122"/>
                <a:cs typeface="Segoe UI" pitchFamily="34" charset="-120"/>
              </a:rPr>
              <a:t>💻 github.com/rigel-sayudha</a:t>
            </a:r>
            <a:endParaRPr lang="en-US" sz="1400" dirty="0"/>
          </a:p>
        </p:txBody>
      </p:sp>
      <p:sp>
        <p:nvSpPr>
          <p:cNvPr id="8" name="Text 6"/>
          <p:cNvSpPr/>
          <p:nvPr/>
        </p:nvSpPr>
        <p:spPr>
          <a:xfrm>
            <a:off x="1828800" y="5669280"/>
            <a:ext cx="8531352" cy="457200"/>
          </a:xfrm>
          <a:prstGeom prst="rect">
            <a:avLst/>
          </a:prstGeom>
          <a:noFill/>
          <a:ln/>
        </p:spPr>
        <p:txBody>
          <a:bodyPr wrap="square" rtlCol="0" anchor="ctr"/>
          <a:lstStyle/>
          <a:p>
            <a:pPr algn="ctr" indent="0" marL="0">
              <a:buNone/>
            </a:pPr>
            <a:r>
              <a:rPr lang="en-US" sz="1100" dirty="0">
                <a:solidFill>
                  <a:srgbClr val="94A3B8"/>
                </a:solidFill>
                <a:latin typeface="Segoe UI" pitchFamily="34" charset="0"/>
                <a:ea typeface="Segoe UI" pitchFamily="34" charset="-122"/>
                <a:cs typeface="Segoe UI" pitchFamily="34" charset="-120"/>
              </a:rPr>
              <a:t>Jl. Wonosari RT 26 No 68, Gunungsari Ilir, Balikpapan 76121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 - Rigel Donovan Sayudha</dc:title>
  <dc:subject>PptxGenJS Presentation</dc:subject>
  <dc:creator>Rigel Donovan Sayudha</dc:creator>
  <cp:lastModifiedBy>Rigel Donovan Sayudha</cp:lastModifiedBy>
  <cp:revision>1</cp:revision>
  <dcterms:created xsi:type="dcterms:W3CDTF">2026-06-30T03:54:12Z</dcterms:created>
  <dcterms:modified xsi:type="dcterms:W3CDTF">2026-06-30T03:54:12Z</dcterms:modified>
</cp:coreProperties>
</file>